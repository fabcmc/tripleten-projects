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78" r:id="rId7"/>
    <p:sldId id="258" r:id="rId8"/>
    <p:sldId id="287" r:id="rId9"/>
    <p:sldId id="288" r:id="rId10"/>
    <p:sldId id="289" r:id="rId11"/>
    <p:sldId id="283" r:id="rId12"/>
    <p:sldId id="292" r:id="rId13"/>
    <p:sldId id="293" r:id="rId14"/>
    <p:sldId id="282" r:id="rId15"/>
    <p:sldId id="295" r:id="rId16"/>
    <p:sldId id="296" r:id="rId17"/>
    <p:sldId id="297" r:id="rId18"/>
    <p:sldId id="298" r:id="rId19"/>
    <p:sldId id="286" r:id="rId20"/>
    <p:sldId id="300" r:id="rId21"/>
    <p:sldId id="266" r:id="rId22"/>
    <p:sldId id="302" r:id="rId23"/>
    <p:sldId id="279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BC03D-80F8-46AB-A198-2C89E7D3B7E8}" v="104" dt="2026-02-06T19:06:48.124"/>
    <p1510:client id="{E0F15397-7779-47CA-8D8A-BDD6AC61C2D9}" v="276" dt="2026-02-06T19:39:00.973"/>
    <p1510:client id="{F75B5A5C-54DC-470A-983A-69265E2DA090}" v="1141" dt="2026-02-07T02:29:46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0655" autoAdjust="0"/>
  </p:normalViewPr>
  <p:slideViewPr>
    <p:cSldViewPr snapToGrid="0">
      <p:cViewPr varScale="1">
        <p:scale>
          <a:sx n="101" d="100"/>
          <a:sy n="101" d="100"/>
        </p:scale>
        <p:origin x="69" y="483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EBAAF-6A77-544E-EFDB-02AB5B37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97373-E50B-F4EC-9E8C-67EA4F796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0BD78-EC21-1A9E-0100-740B98333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ED6B2-29F9-65EC-9415-73CC8336C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178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7B660-F491-E931-8A2D-49D7CD2E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979FB-523B-AFD4-DDFD-5CD3D9D31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B6FE5-AAFA-F39B-69CE-561A1DE17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F89FE-DA83-B0FE-FC47-3250EAE8E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49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88DCB-5821-8938-F0B4-539422291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8E1B1-774C-EF73-6161-A0205421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D986B-3C66-175B-C5E0-89DF75A8F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4B528-3204-ED49-3BE0-63EBE2813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290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9ACE7-9AF4-0FFD-9065-250E797BD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E7831-3B24-38F8-7B31-AE6DFF98F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FE031-DC87-4BAA-44BA-9EC956AFA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4BA3-D062-2E90-0919-73D1B2C01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229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6257-8D5C-F613-9BF4-0DE5BE40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81476-C850-39D3-96FD-9FB91E69F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98D90-953A-C6BF-E760-949287421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C34E5-5728-B3D5-221B-5DD66D491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A2E10-CF63-4D79-40D7-C5954D6B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8A8AA-3974-3F1A-5B68-49AF52B8E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88365-3D76-EF25-27DC-450F45876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317B1-42D8-ADA5-F74C-AD4A10138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24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BE649-8289-8EFB-4668-F95AE30A0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EE057-9B8C-9C39-A7F6-AC682A277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6E348-7A51-B2B2-D3F2-F9023942E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C5FBC-0990-C081-2CD7-04B873651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919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0F5EB-AC2A-9AA2-E4DA-38793E29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2373F-B915-A53D-9394-12F9A81AC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24BB0-4B91-6CCC-4BE0-92278CD35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AD40A-46AA-621B-D6A4-F2E9D8CFC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22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6541A-A655-451F-96CC-EAC795B4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59287-786F-FBBB-CD09-0500E7917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11CEB-268B-BE4E-75C8-56A9AAA46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C5062-54F1-3106-D01F-E95BFA280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00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5FD0B-C9EA-DF85-C050-0BC495AD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AA72D-2D77-D3AE-8635-C6A760A41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BD863-9693-724A-9ED2-79A9A87CF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E569C-6FAC-5072-5BE4-FA1491E59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85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32514-B644-FAE0-C768-F01ED5CB1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37F71-B051-457D-0938-8DE228888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77561-19C9-B08D-D143-AE7BF620D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D221B-CBEE-2582-615F-1D7F92BA6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615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734B-31B4-AD4B-B4FB-F465867F6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4A2A8-9846-9389-C355-AF089FFCA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D41E3-0EDF-EBD4-F056-C7F4962B3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5370-C21C-5C04-CD08-7F2CA0C73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5834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n.wikipedia.org/wiki/File:Bunker_Hill_Downtown_Los_Angeles.jpg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0101" y="3589765"/>
            <a:ext cx="4941771" cy="1362174"/>
          </a:xfrm>
        </p:spPr>
        <p:txBody>
          <a:bodyPr anchor="ctr"/>
          <a:lstStyle/>
          <a:p>
            <a:r>
              <a:rPr lang="en-US" sz="2000" b="1" dirty="0">
                <a:ea typeface="+mj-lt"/>
                <a:cs typeface="+mj-lt"/>
              </a:rPr>
              <a:t>Inovação no Setor Gastronômico de L.A. :</a:t>
            </a:r>
            <a:r>
              <a:rPr lang="en-US" sz="2000" dirty="0">
                <a:ea typeface="+mj-lt"/>
                <a:cs typeface="+mj-lt"/>
              </a:rPr>
              <a:t> </a:t>
            </a:r>
            <a:br>
              <a:rPr lang="en-US" sz="2000" dirty="0">
                <a:ea typeface="+mj-lt"/>
                <a:cs typeface="+mj-lt"/>
              </a:rPr>
            </a:br>
            <a:r>
              <a:rPr lang="en-US" sz="2000" dirty="0">
                <a:ea typeface="+mj-lt"/>
                <a:cs typeface="+mj-lt"/>
              </a:rPr>
              <a:t>Cafeteria com Garçons Robôs</a:t>
            </a:r>
            <a:endParaRPr 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2E27F6-C634-34D8-B000-375736A18B3D}"/>
              </a:ext>
            </a:extLst>
          </p:cNvPr>
          <p:cNvSpPr txBox="1">
            <a:spLocks/>
          </p:cNvSpPr>
          <p:nvPr/>
        </p:nvSpPr>
        <p:spPr>
          <a:xfrm>
            <a:off x="6731099" y="4598432"/>
            <a:ext cx="4941771" cy="10558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err="1">
                <a:ea typeface="+mj-lt"/>
                <a:cs typeface="+mj-lt"/>
              </a:rPr>
              <a:t>Análise</a:t>
            </a:r>
            <a:r>
              <a:rPr lang="en-US" sz="1400" dirty="0">
                <a:ea typeface="+mj-lt"/>
                <a:cs typeface="+mj-lt"/>
              </a:rPr>
              <a:t> de Mercado e </a:t>
            </a:r>
            <a:r>
              <a:rPr lang="en-US" sz="1400" err="1">
                <a:ea typeface="+mj-lt"/>
                <a:cs typeface="+mj-lt"/>
              </a:rPr>
              <a:t>Viabilidade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Estratégica</a:t>
            </a:r>
            <a:r>
              <a:rPr lang="en-US" sz="1400" dirty="0">
                <a:ea typeface="+mj-lt"/>
                <a:cs typeface="+mj-lt"/>
              </a:rPr>
              <a:t>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1E7542-30BC-9C8F-0204-45039CA91DED}"/>
              </a:ext>
            </a:extLst>
          </p:cNvPr>
          <p:cNvSpPr txBox="1">
            <a:spLocks/>
          </p:cNvSpPr>
          <p:nvPr/>
        </p:nvSpPr>
        <p:spPr>
          <a:xfrm>
            <a:off x="6717515" y="5657007"/>
            <a:ext cx="2317977" cy="56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ea typeface="+mj-lt"/>
                <a:cs typeface="+mj-lt"/>
              </a:rPr>
              <a:t>Fabrício Camacho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/>
              <a:t>índice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566437"/>
            <a:ext cx="3290046" cy="32695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Objetivos</a:t>
            </a:r>
            <a:endParaRPr lang="en-US" dirty="0"/>
          </a:p>
          <a:p>
            <a:r>
              <a:rPr lang="en-US"/>
              <a:t>Introdução</a:t>
            </a:r>
            <a:endParaRPr lang="en-US" dirty="0"/>
          </a:p>
          <a:p>
            <a:r>
              <a:rPr lang="en-US"/>
              <a:t>Panorama Geral do Mercado</a:t>
            </a:r>
            <a:endParaRPr lang="en-US" dirty="0"/>
          </a:p>
          <a:p>
            <a:r>
              <a:rPr lang="en-US"/>
              <a:t>Dinâmica das Redes</a:t>
            </a:r>
            <a:endParaRPr lang="en-US" dirty="0"/>
          </a:p>
          <a:p>
            <a:r>
              <a:rPr lang="en-US"/>
              <a:t>Análise Espacial / Geográfica</a:t>
            </a:r>
          </a:p>
          <a:p>
            <a:r>
              <a:rPr lang="en-US"/>
              <a:t>Conclusões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 err="1"/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/>
              <a:t>objetivos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2385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b="0" dirty="0" err="1">
                <a:solidFill>
                  <a:srgbClr val="000000"/>
                </a:solidFill>
                <a:ea typeface="+mn-lt"/>
                <a:cs typeface="+mn-lt"/>
              </a:rPr>
              <a:t>Realizar</a:t>
            </a:r>
            <a:r>
              <a:rPr lang="en-US" b="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b="0" dirty="0" err="1">
                <a:solidFill>
                  <a:srgbClr val="000000"/>
                </a:solidFill>
                <a:ea typeface="+mn-lt"/>
                <a:cs typeface="+mn-lt"/>
              </a:rPr>
              <a:t>uma</a:t>
            </a:r>
            <a:r>
              <a:rPr lang="en-US" b="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b="0" dirty="0" err="1">
                <a:solidFill>
                  <a:srgbClr val="000000"/>
                </a:solidFill>
                <a:ea typeface="+mn-lt"/>
                <a:cs typeface="+mn-lt"/>
              </a:rPr>
              <a:t>análise</a:t>
            </a:r>
            <a:r>
              <a:rPr lang="en-US" b="0" dirty="0">
                <a:solidFill>
                  <a:srgbClr val="000000"/>
                </a:solidFill>
                <a:ea typeface="+mn-lt"/>
                <a:cs typeface="+mn-lt"/>
              </a:rPr>
              <a:t> profunda de mercado </a:t>
            </a:r>
            <a:r>
              <a:rPr lang="en-US" b="0" dirty="0" err="1">
                <a:solidFill>
                  <a:srgbClr val="000000"/>
                </a:solidFill>
                <a:ea typeface="+mn-lt"/>
                <a:cs typeface="+mn-lt"/>
              </a:rPr>
              <a:t>em</a:t>
            </a:r>
            <a:r>
              <a:rPr lang="en-US" b="0" dirty="0">
                <a:solidFill>
                  <a:srgbClr val="000000"/>
                </a:solidFill>
                <a:ea typeface="+mn-lt"/>
                <a:cs typeface="+mn-lt"/>
              </a:rPr>
              <a:t> Los Angeles </a:t>
            </a:r>
            <a:r>
              <a:rPr lang="en-US" b="0" dirty="0" err="1">
                <a:solidFill>
                  <a:srgbClr val="000000"/>
                </a:solidFill>
                <a:ea typeface="+mn-lt"/>
                <a:cs typeface="+mn-lt"/>
              </a:rPr>
              <a:t>utilizando</a:t>
            </a:r>
            <a:r>
              <a:rPr lang="en-US" b="0" dirty="0">
                <a:solidFill>
                  <a:srgbClr val="000000"/>
                </a:solidFill>
                <a:ea typeface="+mn-lt"/>
                <a:cs typeface="+mn-lt"/>
              </a:rPr>
              <a:t> dados </a:t>
            </a:r>
            <a:r>
              <a:rPr lang="en-US" b="0" dirty="0" err="1">
                <a:solidFill>
                  <a:srgbClr val="000000"/>
                </a:solidFill>
                <a:ea typeface="+mn-lt"/>
                <a:cs typeface="+mn-lt"/>
              </a:rPr>
              <a:t>abertos</a:t>
            </a:r>
            <a:r>
              <a:rPr lang="en-US" b="0" dirty="0">
                <a:solidFill>
                  <a:srgbClr val="000000"/>
                </a:solidFill>
                <a:ea typeface="+mn-lt"/>
                <a:cs typeface="+mn-lt"/>
              </a:rPr>
              <a:t>;</a:t>
            </a:r>
            <a:endParaRPr lang="en-US" b="0" dirty="0"/>
          </a:p>
          <a:p>
            <a:pPr marL="283210" lvl="1"/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Identificar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tipo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de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estabelecimento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e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capacidade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ideal de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assentos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;</a:t>
            </a:r>
            <a:endParaRPr lang="en-US" dirty="0"/>
          </a:p>
          <a:p>
            <a:pPr marL="283210" lvl="1"/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Mitigar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riscos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ao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/>
              <a:t>detectar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o </a:t>
            </a:r>
            <a:r>
              <a:rPr lang="en-US" dirty="0" err="1"/>
              <a:t>efeito</a:t>
            </a:r>
            <a:r>
              <a:rPr lang="en-US" dirty="0"/>
              <a:t> da </a:t>
            </a:r>
            <a:r>
              <a:rPr lang="en-US" dirty="0" err="1"/>
              <a:t>novidade</a:t>
            </a:r>
            <a:r>
              <a:rPr lang="en-US" dirty="0"/>
              <a:t> dos </a:t>
            </a:r>
            <a:r>
              <a:rPr lang="en-US" dirty="0" err="1"/>
              <a:t>robôs</a:t>
            </a:r>
            <a:r>
              <a:rPr lang="en-US" dirty="0"/>
              <a:t> </a:t>
            </a:r>
            <a:r>
              <a:rPr lang="en-US" dirty="0" err="1"/>
              <a:t>perder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influência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capacidade</a:t>
            </a:r>
            <a:r>
              <a:rPr lang="en-US" dirty="0"/>
              <a:t> de </a:t>
            </a:r>
            <a:r>
              <a:rPr lang="en-US" dirty="0" err="1"/>
              <a:t>vendas</a:t>
            </a:r>
            <a:r>
              <a:rPr lang="en-US" dirty="0"/>
              <a:t> e 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soluções</a:t>
            </a:r>
            <a:r>
              <a:rPr lang="en-US" dirty="0"/>
              <a:t>;</a:t>
            </a:r>
          </a:p>
          <a:p>
            <a:pPr marL="283210"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0397F-5432-8AE8-965E-9415B7D3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2C2A-FC69-FC45-A220-E6422CF54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 err="1"/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5413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20AC-A131-3305-B30E-9472973DC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99DC-3BDC-14A8-8C0F-1BE1B85A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-336527"/>
            <a:ext cx="7665354" cy="2121177"/>
          </a:xfrm>
        </p:spPr>
        <p:txBody>
          <a:bodyPr/>
          <a:lstStyle/>
          <a:p>
            <a:r>
              <a:rPr lang="en-US"/>
              <a:t>O CONCEITO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D266D-3408-46C9-FF94-A8839F59C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0326" y="2166047"/>
            <a:ext cx="8922191" cy="340705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1" indent="0">
              <a:buNone/>
            </a:pPr>
            <a:r>
              <a:rPr lang="en-US" b="1">
                <a:ea typeface="+mn-lt"/>
                <a:cs typeface="+mn-lt"/>
              </a:rPr>
              <a:t> Unir a cultura "high-tech" de Los Angeles com a eficiência operacional da robótica</a:t>
            </a:r>
            <a:endParaRPr lang="en-US" b="1"/>
          </a:p>
          <a:p>
            <a:pPr marL="0" lvl="1" indent="0" algn="just">
              <a:lnSpc>
                <a:spcPct val="120000"/>
              </a:lnSpc>
              <a:buNone/>
            </a:pPr>
            <a:r>
              <a:rPr lang="en-US"/>
              <a:t>Investir</a:t>
            </a:r>
            <a:r>
              <a:rPr lang="en-US" dirty="0"/>
              <a:t> </a:t>
            </a:r>
            <a:r>
              <a:rPr lang="en-US" err="1"/>
              <a:t>em</a:t>
            </a:r>
            <a:r>
              <a:rPr lang="en-US" dirty="0"/>
              <a:t> </a:t>
            </a:r>
            <a:r>
              <a:rPr lang="en-US" err="1"/>
              <a:t>uma</a:t>
            </a:r>
            <a:r>
              <a:rPr lang="en-US" dirty="0"/>
              <a:t> cafeteria com garçons </a:t>
            </a:r>
            <a:r>
              <a:rPr lang="en-US" err="1"/>
              <a:t>robóticos</a:t>
            </a:r>
            <a:r>
              <a:rPr lang="en-US" dirty="0"/>
              <a:t> </a:t>
            </a:r>
            <a:r>
              <a:rPr lang="en-US" err="1"/>
              <a:t>em</a:t>
            </a:r>
            <a:r>
              <a:rPr lang="en-US" dirty="0"/>
              <a:t> Los Angeles é </a:t>
            </a:r>
            <a:r>
              <a:rPr lang="en-US" err="1"/>
              <a:t>mais</a:t>
            </a:r>
            <a:r>
              <a:rPr lang="en-US" dirty="0"/>
              <a:t> do </a:t>
            </a:r>
            <a:r>
              <a:rPr lang="en-US" err="1"/>
              <a:t>que</a:t>
            </a:r>
            <a:r>
              <a:rPr lang="en-US" dirty="0"/>
              <a:t> </a:t>
            </a:r>
            <a:r>
              <a:rPr lang="en-US" err="1"/>
              <a:t>apostar</a:t>
            </a:r>
            <a:r>
              <a:rPr lang="en-US" dirty="0"/>
              <a:t> </a:t>
            </a:r>
            <a:r>
              <a:rPr lang="en-US" err="1"/>
              <a:t>em</a:t>
            </a:r>
            <a:r>
              <a:rPr lang="en-US" dirty="0"/>
              <a:t> </a:t>
            </a:r>
            <a:r>
              <a:rPr lang="en-US" err="1"/>
              <a:t>uma</a:t>
            </a:r>
            <a:r>
              <a:rPr lang="en-US" dirty="0"/>
              <a:t> </a:t>
            </a:r>
            <a:r>
              <a:rPr lang="en-US" err="1"/>
              <a:t>tendência</a:t>
            </a:r>
            <a:r>
              <a:rPr lang="en-US" dirty="0"/>
              <a:t> </a:t>
            </a:r>
            <a:r>
              <a:rPr lang="en-US" err="1"/>
              <a:t>passageira</a:t>
            </a:r>
            <a:r>
              <a:rPr lang="en-US" dirty="0"/>
              <a:t>; é </a:t>
            </a:r>
            <a:r>
              <a:rPr lang="en-US" err="1"/>
              <a:t>posicionar</a:t>
            </a:r>
            <a:r>
              <a:rPr lang="en-US" dirty="0"/>
              <a:t>-se </a:t>
            </a:r>
            <a:r>
              <a:rPr lang="en-US" err="1"/>
              <a:t>na</a:t>
            </a:r>
            <a:r>
              <a:rPr lang="en-US" dirty="0"/>
              <a:t> </a:t>
            </a:r>
            <a:r>
              <a:rPr lang="en-US" err="1"/>
              <a:t>intersecção</a:t>
            </a:r>
            <a:r>
              <a:rPr lang="en-US" dirty="0"/>
              <a:t> entre o </a:t>
            </a:r>
            <a:r>
              <a:rPr lang="en-US" err="1"/>
              <a:t>estilo</a:t>
            </a:r>
            <a:r>
              <a:rPr lang="en-US" dirty="0"/>
              <a:t> de </a:t>
            </a:r>
            <a:r>
              <a:rPr lang="en-US" err="1"/>
              <a:t>vida</a:t>
            </a:r>
            <a:r>
              <a:rPr lang="en-US" dirty="0"/>
              <a:t> "high-tech" de Silicon Beach e a </a:t>
            </a:r>
            <a:r>
              <a:rPr lang="en-US" err="1"/>
              <a:t>busca</a:t>
            </a:r>
            <a:r>
              <a:rPr lang="en-US" dirty="0"/>
              <a:t> </a:t>
            </a:r>
            <a:r>
              <a:rPr lang="en-US" err="1"/>
              <a:t>incessante</a:t>
            </a:r>
            <a:r>
              <a:rPr lang="en-US" dirty="0"/>
              <a:t> de Hollywood </a:t>
            </a:r>
            <a:r>
              <a:rPr lang="en-US" err="1"/>
              <a:t>pelo</a:t>
            </a:r>
            <a:r>
              <a:rPr lang="en-US" dirty="0"/>
              <a:t> </a:t>
            </a:r>
            <a:r>
              <a:rPr lang="en-US" err="1"/>
              <a:t>espetáculo</a:t>
            </a:r>
            <a:r>
              <a:rPr lang="en-US" dirty="0"/>
              <a:t>. Em </a:t>
            </a:r>
            <a:r>
              <a:rPr lang="en-US" err="1"/>
              <a:t>uma</a:t>
            </a:r>
            <a:r>
              <a:rPr lang="en-US" dirty="0"/>
              <a:t> </a:t>
            </a:r>
            <a:r>
              <a:rPr lang="en-US" err="1"/>
              <a:t>metrópole</a:t>
            </a:r>
            <a:r>
              <a:rPr lang="en-US" dirty="0"/>
              <a:t> </a:t>
            </a:r>
            <a:r>
              <a:rPr lang="en-US" err="1"/>
              <a:t>onde</a:t>
            </a:r>
            <a:r>
              <a:rPr lang="en-US" dirty="0"/>
              <a:t> a </a:t>
            </a:r>
            <a:r>
              <a:rPr lang="en-US" err="1"/>
              <a:t>eficiência</a:t>
            </a:r>
            <a:r>
              <a:rPr lang="en-US" dirty="0"/>
              <a:t> é vital e a </a:t>
            </a:r>
            <a:r>
              <a:rPr lang="en-US" err="1"/>
              <a:t>inovação</a:t>
            </a:r>
            <a:r>
              <a:rPr lang="en-US" dirty="0"/>
              <a:t> é a </a:t>
            </a:r>
            <a:r>
              <a:rPr lang="en-US" err="1"/>
              <a:t>moeda</a:t>
            </a:r>
            <a:r>
              <a:rPr lang="en-US" dirty="0"/>
              <a:t> local, a </a:t>
            </a:r>
            <a:r>
              <a:rPr lang="en-US" err="1"/>
              <a:t>automação</a:t>
            </a:r>
            <a:r>
              <a:rPr lang="en-US" dirty="0"/>
              <a:t> </a:t>
            </a:r>
            <a:r>
              <a:rPr lang="en-US" err="1"/>
              <a:t>deixa</a:t>
            </a:r>
            <a:r>
              <a:rPr lang="en-US" dirty="0"/>
              <a:t> de ser um </a:t>
            </a:r>
            <a:r>
              <a:rPr lang="en-US" err="1"/>
              <a:t>acessório</a:t>
            </a:r>
            <a:r>
              <a:rPr lang="en-US" dirty="0"/>
              <a:t> para se </a:t>
            </a:r>
            <a:r>
              <a:rPr lang="en-US" err="1"/>
              <a:t>tornar</a:t>
            </a:r>
            <a:r>
              <a:rPr lang="en-US" dirty="0"/>
              <a:t> </a:t>
            </a:r>
            <a:r>
              <a:rPr lang="en-US" err="1"/>
              <a:t>uma</a:t>
            </a:r>
            <a:r>
              <a:rPr lang="en-US" dirty="0"/>
              <a:t> </a:t>
            </a:r>
            <a:r>
              <a:rPr lang="en-US" err="1"/>
              <a:t>solução</a:t>
            </a:r>
            <a:r>
              <a:rPr lang="en-US" dirty="0"/>
              <a:t> </a:t>
            </a:r>
            <a:r>
              <a:rPr lang="en-US" err="1"/>
              <a:t>estratégica</a:t>
            </a:r>
            <a:r>
              <a:rPr lang="en-US" dirty="0"/>
              <a:t> contra a </a:t>
            </a:r>
            <a:r>
              <a:rPr lang="en-US" err="1"/>
              <a:t>volatilidade</a:t>
            </a:r>
            <a:r>
              <a:rPr lang="en-US" dirty="0"/>
              <a:t> do mercado de </a:t>
            </a:r>
            <a:r>
              <a:rPr lang="en-US" err="1"/>
              <a:t>trabalho</a:t>
            </a:r>
            <a:r>
              <a:rPr lang="en-US" dirty="0"/>
              <a:t> e </a:t>
            </a:r>
            <a:r>
              <a:rPr lang="en-US" err="1"/>
              <a:t>os</a:t>
            </a:r>
            <a:r>
              <a:rPr lang="en-US" dirty="0"/>
              <a:t> </a:t>
            </a:r>
            <a:r>
              <a:rPr lang="en-US" err="1"/>
              <a:t>elevados</a:t>
            </a:r>
            <a:r>
              <a:rPr lang="en-US" dirty="0"/>
              <a:t> custos </a:t>
            </a:r>
            <a:r>
              <a:rPr lang="en-US" err="1"/>
              <a:t>operacionais</a:t>
            </a:r>
            <a:r>
              <a:rPr lang="en-US" dirty="0"/>
              <a:t> da </a:t>
            </a:r>
            <a:r>
              <a:rPr lang="en-US" err="1"/>
              <a:t>Califórnia</a:t>
            </a:r>
            <a:r>
              <a:rPr lang="en-US" dirty="0"/>
              <a:t>. </a:t>
            </a:r>
            <a:r>
              <a:rPr lang="en-US" b="1" dirty="0"/>
              <a:t>Este </a:t>
            </a:r>
            <a:r>
              <a:rPr lang="en-US" b="1" err="1"/>
              <a:t>empreendimento</a:t>
            </a:r>
            <a:r>
              <a:rPr lang="en-US" b="1" dirty="0"/>
              <a:t> </a:t>
            </a:r>
            <a:r>
              <a:rPr lang="en-US" b="1" err="1"/>
              <a:t>não</a:t>
            </a:r>
            <a:r>
              <a:rPr lang="en-US" b="1" dirty="0"/>
              <a:t> </a:t>
            </a:r>
            <a:r>
              <a:rPr lang="en-US" b="1" err="1"/>
              <a:t>venderá</a:t>
            </a:r>
            <a:r>
              <a:rPr lang="en-US" b="1" dirty="0"/>
              <a:t> </a:t>
            </a:r>
            <a:r>
              <a:rPr lang="en-US" b="1" err="1"/>
              <a:t>apenas</a:t>
            </a:r>
            <a:r>
              <a:rPr lang="en-US" b="1" dirty="0"/>
              <a:t> café, mas </a:t>
            </a:r>
            <a:r>
              <a:rPr lang="en-US" b="1" err="1"/>
              <a:t>uma</a:t>
            </a:r>
            <a:r>
              <a:rPr lang="en-US" b="1" dirty="0"/>
              <a:t> </a:t>
            </a:r>
            <a:r>
              <a:rPr lang="en-US" b="1" err="1"/>
              <a:t>experiência</a:t>
            </a:r>
            <a:r>
              <a:rPr lang="en-US" b="1" dirty="0"/>
              <a:t> de </a:t>
            </a:r>
            <a:r>
              <a:rPr lang="en-US" b="1" err="1"/>
              <a:t>consumo</a:t>
            </a:r>
            <a:r>
              <a:rPr lang="en-US" b="1" dirty="0"/>
              <a:t> </a:t>
            </a:r>
            <a:r>
              <a:rPr lang="en-US" b="1" err="1"/>
              <a:t>otimizada</a:t>
            </a:r>
            <a:r>
              <a:rPr lang="en-US" b="1" dirty="0"/>
              <a:t>, </a:t>
            </a:r>
            <a:r>
              <a:rPr lang="en-US" b="1" err="1"/>
              <a:t>capaz</a:t>
            </a:r>
            <a:r>
              <a:rPr lang="en-US" b="1" dirty="0"/>
              <a:t> de converter a </a:t>
            </a:r>
            <a:r>
              <a:rPr lang="en-US" b="1" err="1"/>
              <a:t>curiosidade</a:t>
            </a:r>
            <a:r>
              <a:rPr lang="en-US" b="1" dirty="0"/>
              <a:t> </a:t>
            </a:r>
            <a:r>
              <a:rPr lang="en-US" b="1" err="1"/>
              <a:t>tecnológica</a:t>
            </a:r>
            <a:r>
              <a:rPr lang="en-US" b="1" dirty="0"/>
              <a:t> </a:t>
            </a:r>
            <a:r>
              <a:rPr lang="en-US" b="1" err="1"/>
              <a:t>em</a:t>
            </a:r>
            <a:r>
              <a:rPr lang="en-US" b="1" dirty="0"/>
              <a:t> </a:t>
            </a:r>
            <a:r>
              <a:rPr lang="en-US" b="1" err="1"/>
              <a:t>fidelidade</a:t>
            </a:r>
            <a:r>
              <a:rPr lang="en-US" b="1" dirty="0"/>
              <a:t> de </a:t>
            </a:r>
            <a:r>
              <a:rPr lang="en-US" b="1" err="1"/>
              <a:t>marca</a:t>
            </a:r>
            <a:r>
              <a:rPr lang="en-US" b="1" dirty="0"/>
              <a:t> e </a:t>
            </a:r>
            <a:r>
              <a:rPr lang="en-US" b="1" err="1"/>
              <a:t>eficiência</a:t>
            </a:r>
            <a:r>
              <a:rPr lang="en-US" b="1" dirty="0"/>
              <a:t> </a:t>
            </a:r>
            <a:r>
              <a:rPr lang="en-US" b="1" err="1"/>
              <a:t>logística</a:t>
            </a:r>
            <a:r>
              <a:rPr lang="en-US" b="1" dirty="0"/>
              <a:t> </a:t>
            </a:r>
            <a:r>
              <a:rPr lang="en-US" b="1" err="1"/>
              <a:t>em</a:t>
            </a:r>
            <a:r>
              <a:rPr lang="en-US" b="1" dirty="0"/>
              <a:t> </a:t>
            </a:r>
            <a:r>
              <a:rPr lang="en-US" b="1" err="1"/>
              <a:t>margens</a:t>
            </a:r>
            <a:r>
              <a:rPr lang="en-US" b="1" dirty="0"/>
              <a:t> de </a:t>
            </a:r>
            <a:r>
              <a:rPr lang="en-US" b="1" err="1"/>
              <a:t>lucro</a:t>
            </a:r>
            <a:r>
              <a:rPr lang="en-US" b="1" dirty="0"/>
              <a:t> </a:t>
            </a:r>
            <a:r>
              <a:rPr lang="en-US" b="1" err="1"/>
              <a:t>sustentáveis</a:t>
            </a:r>
            <a:r>
              <a:rPr lang="en-US" dirty="0"/>
              <a:t>. Para </a:t>
            </a:r>
            <a:r>
              <a:rPr lang="en-US" err="1"/>
              <a:t>que</a:t>
            </a:r>
            <a:r>
              <a:rPr lang="en-US" dirty="0"/>
              <a:t> </a:t>
            </a:r>
            <a:r>
              <a:rPr lang="en-US" err="1"/>
              <a:t>essa</a:t>
            </a:r>
            <a:r>
              <a:rPr lang="en-US" dirty="0"/>
              <a:t> </a:t>
            </a:r>
            <a:r>
              <a:rPr lang="en-US" err="1"/>
              <a:t>visão</a:t>
            </a:r>
            <a:r>
              <a:rPr lang="en-US" dirty="0"/>
              <a:t> se materialize </a:t>
            </a:r>
            <a:r>
              <a:rPr lang="en-US" err="1"/>
              <a:t>em</a:t>
            </a:r>
            <a:r>
              <a:rPr lang="en-US" dirty="0"/>
              <a:t> </a:t>
            </a:r>
            <a:r>
              <a:rPr lang="en-US" err="1"/>
              <a:t>sucesso</a:t>
            </a:r>
            <a:r>
              <a:rPr lang="en-US" dirty="0"/>
              <a:t> </a:t>
            </a:r>
            <a:r>
              <a:rPr lang="en-US" err="1"/>
              <a:t>financeiro</a:t>
            </a:r>
            <a:r>
              <a:rPr lang="en-US" dirty="0"/>
              <a:t>, é fundamental </a:t>
            </a:r>
            <a:r>
              <a:rPr lang="en-US" err="1"/>
              <a:t>observar</a:t>
            </a:r>
            <a:r>
              <a:rPr lang="en-US" dirty="0"/>
              <a:t> </a:t>
            </a:r>
            <a:r>
              <a:rPr lang="en-US" err="1"/>
              <a:t>como</a:t>
            </a:r>
            <a:r>
              <a:rPr lang="en-US" dirty="0"/>
              <a:t> o </a:t>
            </a:r>
            <a:r>
              <a:rPr lang="en-US" err="1"/>
              <a:t>comportamento</a:t>
            </a:r>
            <a:r>
              <a:rPr lang="en-US" dirty="0"/>
              <a:t> do </a:t>
            </a:r>
            <a:r>
              <a:rPr lang="en-US" err="1"/>
              <a:t>consumidor</a:t>
            </a:r>
            <a:r>
              <a:rPr lang="en-US" dirty="0"/>
              <a:t> e </a:t>
            </a:r>
            <a:r>
              <a:rPr lang="en-US" err="1"/>
              <a:t>os</a:t>
            </a:r>
            <a:r>
              <a:rPr lang="en-US" dirty="0"/>
              <a:t> </a:t>
            </a:r>
            <a:r>
              <a:rPr lang="en-US" err="1"/>
              <a:t>indicadores</a:t>
            </a:r>
            <a:r>
              <a:rPr lang="en-US" dirty="0"/>
              <a:t> de </a:t>
            </a:r>
            <a:r>
              <a:rPr lang="en-US" err="1"/>
              <a:t>consumo</a:t>
            </a:r>
            <a:r>
              <a:rPr lang="en-US" dirty="0"/>
              <a:t> de L.A. se </a:t>
            </a:r>
            <a:r>
              <a:rPr lang="en-US" err="1"/>
              <a:t>alinham</a:t>
            </a:r>
            <a:r>
              <a:rPr lang="en-US" dirty="0"/>
              <a:t> a </a:t>
            </a:r>
            <a:r>
              <a:rPr lang="en-US" err="1"/>
              <a:t>essa</a:t>
            </a:r>
            <a:r>
              <a:rPr lang="en-US" dirty="0"/>
              <a:t> </a:t>
            </a:r>
            <a:r>
              <a:rPr lang="en-US" err="1"/>
              <a:t>proposta</a:t>
            </a:r>
            <a:r>
              <a:rPr lang="en-US" dirty="0"/>
              <a:t>. A </a:t>
            </a:r>
            <a:r>
              <a:rPr lang="en-US" err="1"/>
              <a:t>análise</a:t>
            </a:r>
            <a:r>
              <a:rPr lang="en-US" dirty="0"/>
              <a:t> de dados a </a:t>
            </a:r>
            <a:r>
              <a:rPr lang="en-US" err="1"/>
              <a:t>seguir</a:t>
            </a:r>
            <a:r>
              <a:rPr lang="en-US" dirty="0"/>
              <a:t> </a:t>
            </a:r>
            <a:r>
              <a:rPr lang="en-US" err="1"/>
              <a:t>pretende</a:t>
            </a:r>
            <a:r>
              <a:rPr lang="en-US" dirty="0"/>
              <a:t> </a:t>
            </a:r>
            <a:r>
              <a:rPr lang="en-US" err="1"/>
              <a:t>entender</a:t>
            </a:r>
            <a:r>
              <a:rPr lang="en-US" dirty="0"/>
              <a:t> a </a:t>
            </a:r>
            <a:r>
              <a:rPr lang="en-US" err="1"/>
              <a:t>realidade</a:t>
            </a:r>
            <a:r>
              <a:rPr lang="en-US" dirty="0"/>
              <a:t> de </a:t>
            </a:r>
            <a:r>
              <a:rPr lang="en-US" err="1"/>
              <a:t>estabelecimentos</a:t>
            </a:r>
            <a:r>
              <a:rPr lang="en-US" dirty="0"/>
              <a:t> </a:t>
            </a:r>
            <a:r>
              <a:rPr lang="en-US" err="1"/>
              <a:t>gastronômicos</a:t>
            </a:r>
            <a:r>
              <a:rPr lang="en-US" dirty="0"/>
              <a:t> no local, </a:t>
            </a:r>
            <a:r>
              <a:rPr lang="en-US" err="1"/>
              <a:t>revelando</a:t>
            </a:r>
            <a:r>
              <a:rPr lang="en-US" dirty="0"/>
              <a:t> </a:t>
            </a:r>
            <a:r>
              <a:rPr lang="en-US" err="1"/>
              <a:t>pontos</a:t>
            </a:r>
            <a:r>
              <a:rPr lang="en-US" dirty="0"/>
              <a:t> para </a:t>
            </a:r>
            <a:r>
              <a:rPr lang="en-US" err="1"/>
              <a:t>construir</a:t>
            </a:r>
            <a:r>
              <a:rPr lang="en-US" dirty="0"/>
              <a:t> </a:t>
            </a:r>
            <a:r>
              <a:rPr lang="en-US" err="1"/>
              <a:t>uma</a:t>
            </a:r>
            <a:r>
              <a:rPr lang="en-US" dirty="0"/>
              <a:t> </a:t>
            </a:r>
            <a:r>
              <a:rPr lang="en-US" err="1"/>
              <a:t>estratégia</a:t>
            </a:r>
            <a:r>
              <a:rPr lang="en-US" dirty="0"/>
              <a:t> de </a:t>
            </a:r>
            <a:r>
              <a:rPr lang="en-US" err="1"/>
              <a:t>equilíbrio</a:t>
            </a:r>
            <a:r>
              <a:rPr lang="en-US" dirty="0"/>
              <a:t> </a:t>
            </a:r>
            <a:r>
              <a:rPr lang="en-US" err="1"/>
              <a:t>na</a:t>
            </a:r>
            <a:r>
              <a:rPr lang="en-US" dirty="0"/>
              <a:t> qual a </a:t>
            </a:r>
            <a:r>
              <a:rPr lang="en-US" err="1"/>
              <a:t>robótica</a:t>
            </a:r>
            <a:r>
              <a:rPr lang="en-US" dirty="0"/>
              <a:t> </a:t>
            </a:r>
            <a:r>
              <a:rPr lang="en-US" err="1"/>
              <a:t>encontra</a:t>
            </a:r>
            <a:r>
              <a:rPr lang="en-US" dirty="0"/>
              <a:t> a </a:t>
            </a:r>
            <a:r>
              <a:rPr lang="en-US" err="1"/>
              <a:t>rentabilidade</a:t>
            </a:r>
            <a:r>
              <a:rPr lang="en-US" dirty="0"/>
              <a:t>.</a:t>
            </a:r>
            <a:endParaRPr lang="en-US"/>
          </a:p>
          <a:p>
            <a:pPr marL="283210"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C63B332-8D63-41AD-A957-B9C41B97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59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07157-8139-B018-80EC-25D6C27D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F54E-8E7D-84C2-1BAB-1E2E100A0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917" y="1256873"/>
            <a:ext cx="4179570" cy="3377354"/>
          </a:xfrm>
        </p:spPr>
        <p:txBody>
          <a:bodyPr/>
          <a:lstStyle/>
          <a:p>
            <a:r>
              <a:rPr lang="en-US" dirty="0"/>
              <a:t>Panorama geral do </a:t>
            </a:r>
            <a:r>
              <a:rPr lang="en-US"/>
              <a:t>mercado em los angeles</a:t>
            </a:r>
          </a:p>
        </p:txBody>
      </p:sp>
    </p:spTree>
    <p:extLst>
      <p:ext uri="{BB962C8B-B14F-4D97-AF65-F5344CB8AC3E}">
        <p14:creationId xmlns:p14="http://schemas.microsoft.com/office/powerpoint/2010/main" val="348637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672" y="-206628"/>
            <a:ext cx="5687991" cy="1917700"/>
          </a:xfrm>
        </p:spPr>
        <p:txBody>
          <a:bodyPr>
            <a:normAutofit/>
          </a:bodyPr>
          <a:lstStyle/>
          <a:p>
            <a:r>
              <a:rPr lang="en-US"/>
              <a:t>Restaurantes são maioria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3677" y="1316283"/>
            <a:ext cx="3315181" cy="684353"/>
          </a:xfrm>
        </p:spPr>
        <p:txBody>
          <a:bodyPr vert="horz" lIns="91440" tIns="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Domínio de Restaurantes (75,17%).</a:t>
            </a:r>
            <a:endParaRPr lang="en-US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D9078277-3E59-0B3B-351C-13A689C0A8BB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A686FA7-6D4E-C94F-4187-CEC6FD163FD8}"/>
              </a:ext>
            </a:extLst>
          </p:cNvPr>
          <p:cNvSpPr txBox="1">
            <a:spLocks/>
          </p:cNvSpPr>
          <p:nvPr/>
        </p:nvSpPr>
        <p:spPr>
          <a:xfrm>
            <a:off x="6707472" y="1325702"/>
            <a:ext cx="3315181" cy="675389"/>
          </a:xfrm>
          <a:prstGeom prst="rect">
            <a:avLst/>
          </a:prstGeom>
        </p:spPr>
        <p:txBody>
          <a:bodyPr vert="horz" lIns="91440" tIns="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Oportunidade no nicho de Cafeterias (4,51%).</a:t>
            </a:r>
            <a:endParaRPr lang="en-US"/>
          </a:p>
          <a:p>
            <a:endParaRPr lang="en-US" dirty="0"/>
          </a:p>
        </p:txBody>
      </p:sp>
      <p:pic>
        <p:nvPicPr>
          <p:cNvPr id="2" name="Picture 1" descr="A blue pie chart with text&#10;&#10;AI-generated content may be incorrect.">
            <a:extLst>
              <a:ext uri="{FF2B5EF4-FFF2-40B4-BE49-F238E27FC236}">
                <a16:creationId xmlns:a16="http://schemas.microsoft.com/office/drawing/2014/main" id="{265164AF-964C-E269-7931-85DAE51309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0" t="6962" r="-97" b="211"/>
          <a:stretch>
            <a:fillRect/>
          </a:stretch>
        </p:blipFill>
        <p:spPr>
          <a:xfrm>
            <a:off x="1020786" y="2160262"/>
            <a:ext cx="10150342" cy="456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0FF4-64B6-54CC-EA05-208E459B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8A003E-7B71-741B-0CB3-E6307EA3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672" y="208132"/>
            <a:ext cx="5687991" cy="1917700"/>
          </a:xfrm>
        </p:spPr>
        <p:txBody>
          <a:bodyPr>
            <a:normAutofit/>
          </a:bodyPr>
          <a:lstStyle/>
          <a:p>
            <a:r>
              <a:rPr lang="en-US" err="1"/>
              <a:t>Estabelecimentos</a:t>
            </a:r>
            <a:r>
              <a:rPr lang="en-US"/>
              <a:t> de rede vs. independentes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A951A25-EE8B-3141-376D-6E6A09E302E4}"/>
              </a:ext>
            </a:extLst>
          </p:cNvPr>
          <p:cNvSpPr txBox="1">
            <a:spLocks/>
          </p:cNvSpPr>
          <p:nvPr/>
        </p:nvSpPr>
        <p:spPr>
          <a:xfrm>
            <a:off x="7832174" y="1835909"/>
            <a:ext cx="3832668" cy="34650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2000" dirty="0"/>
              <a:t>61,9% dos </a:t>
            </a:r>
            <a:r>
              <a:rPr lang="en-US" sz="2000" err="1"/>
              <a:t>estabelecimentos</a:t>
            </a:r>
            <a:r>
              <a:rPr lang="en-US" sz="2000" dirty="0"/>
              <a:t> </a:t>
            </a:r>
            <a:r>
              <a:rPr lang="en-US" sz="2000" err="1"/>
              <a:t>são</a:t>
            </a:r>
            <a:r>
              <a:rPr lang="en-US" sz="2000" dirty="0"/>
              <a:t> </a:t>
            </a:r>
            <a:r>
              <a:rPr lang="en-US" sz="2000" err="1"/>
              <a:t>independentes</a:t>
            </a:r>
            <a:r>
              <a:rPr lang="en-US" sz="2000" dirty="0"/>
              <a:t>;</a:t>
            </a:r>
          </a:p>
          <a:p>
            <a:pPr marL="0"/>
            <a:r>
              <a:rPr lang="en-US" sz="2000" dirty="0"/>
              <a:t>38,1% dos </a:t>
            </a:r>
            <a:r>
              <a:rPr lang="en-US" sz="2000" err="1"/>
              <a:t>estabelecimentos</a:t>
            </a:r>
            <a:r>
              <a:rPr lang="en-US" sz="2000" dirty="0"/>
              <a:t> </a:t>
            </a:r>
            <a:r>
              <a:rPr lang="en-US" sz="2000" err="1"/>
              <a:t>fazem</a:t>
            </a:r>
            <a:r>
              <a:rPr lang="en-US" sz="2000" dirty="0"/>
              <a:t> </a:t>
            </a:r>
            <a:r>
              <a:rPr lang="en-US" sz="2000" err="1"/>
              <a:t>parte</a:t>
            </a:r>
            <a:r>
              <a:rPr lang="en-US" sz="2000" dirty="0"/>
              <a:t> de </a:t>
            </a:r>
            <a:r>
              <a:rPr lang="en-US" sz="2000" err="1"/>
              <a:t>alguma</a:t>
            </a:r>
            <a:r>
              <a:rPr lang="en-US" sz="2000" dirty="0"/>
              <a:t> rede;</a:t>
            </a:r>
          </a:p>
          <a:p>
            <a:pPr marL="0"/>
            <a:r>
              <a:rPr lang="en-US" sz="2000" dirty="0"/>
              <a:t>100% das </a:t>
            </a:r>
            <a:r>
              <a:rPr lang="en-US" sz="2000" err="1"/>
              <a:t>padarias</a:t>
            </a:r>
            <a:r>
              <a:rPr lang="en-US" sz="2000" dirty="0"/>
              <a:t> </a:t>
            </a:r>
            <a:r>
              <a:rPr lang="en-US" sz="2000" err="1"/>
              <a:t>fazem</a:t>
            </a:r>
            <a:r>
              <a:rPr lang="en-US" sz="2000" dirty="0"/>
              <a:t> </a:t>
            </a:r>
            <a:r>
              <a:rPr lang="en-US" sz="2000" err="1"/>
              <a:t>parte</a:t>
            </a:r>
            <a:r>
              <a:rPr lang="en-US" sz="2000" dirty="0"/>
              <a:t> de redes;</a:t>
            </a:r>
          </a:p>
          <a:p>
            <a:pPr marL="0"/>
            <a:r>
              <a:rPr lang="en-US" sz="2000" dirty="0"/>
              <a:t>73,6% dos bares </a:t>
            </a:r>
            <a:r>
              <a:rPr lang="en-US" sz="2000" err="1"/>
              <a:t>são</a:t>
            </a:r>
            <a:r>
              <a:rPr lang="en-US" sz="2000" dirty="0"/>
              <a:t> </a:t>
            </a:r>
            <a:r>
              <a:rPr lang="en-US" sz="2000" err="1"/>
              <a:t>independentes</a:t>
            </a:r>
            <a:r>
              <a:rPr lang="en-US" sz="2000" dirty="0"/>
              <a:t>;</a:t>
            </a:r>
          </a:p>
          <a:p>
            <a:pPr marL="0"/>
            <a:r>
              <a:rPr lang="en-US" sz="2000" dirty="0"/>
              <a:t>61,1% dos cafés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independentes</a:t>
            </a:r>
            <a:r>
              <a:rPr lang="en-US" sz="2000" dirty="0"/>
              <a:t>.</a:t>
            </a:r>
          </a:p>
        </p:txBody>
      </p:sp>
      <p:pic>
        <p:nvPicPr>
          <p:cNvPr id="17" name="Picture 16" descr="A graph with numbers and percentages&#10;&#10;AI-generated content may be incorrect.">
            <a:extLst>
              <a:ext uri="{FF2B5EF4-FFF2-40B4-BE49-F238E27FC236}">
                <a16:creationId xmlns:a16="http://schemas.microsoft.com/office/drawing/2014/main" id="{3C0EE164-0A66-B33F-D7B2-B36F4FB9C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3" y="1705457"/>
            <a:ext cx="7534516" cy="43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69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AF31D-9EED-378F-DCD6-5B11E1C7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A4F5-C895-EE02-52D9-0F47971D5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917" y="1256873"/>
            <a:ext cx="4179570" cy="3377354"/>
          </a:xfrm>
        </p:spPr>
        <p:txBody>
          <a:bodyPr/>
          <a:lstStyle/>
          <a:p>
            <a:r>
              <a:rPr lang="en-US" dirty="0" err="1"/>
              <a:t>Dinâmica</a:t>
            </a:r>
            <a:r>
              <a:rPr lang="en-US" dirty="0"/>
              <a:t> das redes</a:t>
            </a:r>
          </a:p>
        </p:txBody>
      </p:sp>
    </p:spTree>
    <p:extLst>
      <p:ext uri="{BB962C8B-B14F-4D97-AF65-F5344CB8AC3E}">
        <p14:creationId xmlns:p14="http://schemas.microsoft.com/office/powerpoint/2010/main" val="2758420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272" y="-521503"/>
            <a:ext cx="9953308" cy="1780860"/>
          </a:xfrm>
        </p:spPr>
        <p:txBody>
          <a:bodyPr/>
          <a:lstStyle/>
          <a:p>
            <a:r>
              <a:rPr lang="en-US" err="1"/>
              <a:t>Quantidade</a:t>
            </a:r>
            <a:r>
              <a:rPr lang="en-US"/>
              <a:t> de </a:t>
            </a:r>
            <a:r>
              <a:rPr lang="en-US" err="1"/>
              <a:t>assentos</a:t>
            </a:r>
            <a:r>
              <a:rPr lang="en-US"/>
              <a:t> nas redes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02172" y="1967444"/>
            <a:ext cx="4078722" cy="4218575"/>
          </a:xfrm>
        </p:spPr>
        <p:txBody>
          <a:bodyPr vert="horz" lIns="91440" tIns="0" rIns="91440" bIns="45720" rtlCol="0" anchor="t">
            <a:normAutofit/>
          </a:bodyPr>
          <a:lstStyle/>
          <a:p>
            <a:pPr marL="285750" indent="-285750" algn="just">
              <a:buChar char="•"/>
            </a:pPr>
            <a:r>
              <a:rPr lang="en-US" dirty="0"/>
              <a:t>As </a:t>
            </a:r>
            <a:r>
              <a:rPr lang="en-US" err="1"/>
              <a:t>unidades</a:t>
            </a:r>
            <a:r>
              <a:rPr lang="en-US" dirty="0"/>
              <a:t> </a:t>
            </a:r>
            <a:r>
              <a:rPr lang="en-US" err="1"/>
              <a:t>pertencentes</a:t>
            </a:r>
            <a:r>
              <a:rPr lang="en-US" dirty="0"/>
              <a:t> a redes </a:t>
            </a:r>
            <a:r>
              <a:rPr lang="en-US" err="1"/>
              <a:t>preferem</a:t>
            </a:r>
            <a:r>
              <a:rPr lang="en-US" dirty="0"/>
              <a:t> um </a:t>
            </a:r>
            <a:r>
              <a:rPr lang="en-US" err="1"/>
              <a:t>número</a:t>
            </a:r>
            <a:r>
              <a:rPr lang="en-US" dirty="0"/>
              <a:t> </a:t>
            </a:r>
            <a:r>
              <a:rPr lang="en-US" err="1"/>
              <a:t>reduzido</a:t>
            </a:r>
            <a:r>
              <a:rPr lang="en-US" dirty="0"/>
              <a:t> de </a:t>
            </a:r>
            <a:r>
              <a:rPr lang="en-US" err="1"/>
              <a:t>assentos</a:t>
            </a:r>
            <a:endParaRPr lang="en-US"/>
          </a:p>
          <a:p>
            <a:pPr marL="285750" indent="-285750" algn="just">
              <a:buChar char="•"/>
            </a:pPr>
            <a:r>
              <a:rPr lang="en-US" dirty="0"/>
              <a:t>Grande </a:t>
            </a:r>
            <a:r>
              <a:rPr lang="en-US" err="1"/>
              <a:t>maioria</a:t>
            </a:r>
            <a:r>
              <a:rPr lang="en-US" dirty="0"/>
              <a:t> das </a:t>
            </a:r>
            <a:r>
              <a:rPr lang="en-US" err="1"/>
              <a:t>unidades</a:t>
            </a:r>
            <a:r>
              <a:rPr lang="en-US" dirty="0"/>
              <a:t> </a:t>
            </a:r>
            <a:r>
              <a:rPr lang="en-US" err="1"/>
              <a:t>apresentam</a:t>
            </a:r>
            <a:r>
              <a:rPr lang="en-US" dirty="0"/>
              <a:t> </a:t>
            </a:r>
            <a:r>
              <a:rPr lang="en-US" err="1"/>
              <a:t>menos</a:t>
            </a:r>
            <a:r>
              <a:rPr lang="en-US" dirty="0"/>
              <a:t> </a:t>
            </a:r>
            <a:r>
              <a:rPr lang="en-US" err="1"/>
              <a:t>que</a:t>
            </a:r>
            <a:r>
              <a:rPr lang="en-US" dirty="0"/>
              <a:t> 10 </a:t>
            </a:r>
            <a:r>
              <a:rPr lang="en-US" err="1"/>
              <a:t>assentos</a:t>
            </a:r>
            <a:r>
              <a:rPr lang="en-US" dirty="0"/>
              <a:t> </a:t>
            </a:r>
            <a:r>
              <a:rPr lang="en-US" err="1"/>
              <a:t>em</a:t>
            </a:r>
            <a:r>
              <a:rPr lang="en-US" dirty="0"/>
              <a:t> </a:t>
            </a:r>
            <a:r>
              <a:rPr lang="en-US" err="1"/>
              <a:t>média</a:t>
            </a:r>
            <a:r>
              <a:rPr lang="en-US" dirty="0"/>
              <a:t>.</a:t>
            </a:r>
          </a:p>
          <a:p>
            <a:pPr marL="285750" indent="-285750" algn="just">
              <a:buChar char="•"/>
            </a:pPr>
            <a:r>
              <a:rPr lang="en-US" dirty="0"/>
              <a:t>A </a:t>
            </a:r>
            <a:r>
              <a:rPr lang="en-US" err="1"/>
              <a:t>maior</a:t>
            </a:r>
            <a:r>
              <a:rPr lang="en-US" dirty="0"/>
              <a:t> </a:t>
            </a:r>
            <a:r>
              <a:rPr lang="en-US" err="1"/>
              <a:t>quantidade</a:t>
            </a:r>
            <a:r>
              <a:rPr lang="en-US" dirty="0"/>
              <a:t> de </a:t>
            </a:r>
            <a:r>
              <a:rPr lang="en-US" err="1"/>
              <a:t>estabelecimentos</a:t>
            </a:r>
            <a:r>
              <a:rPr lang="en-US" dirty="0"/>
              <a:t> </a:t>
            </a:r>
            <a:r>
              <a:rPr lang="en-US" err="1"/>
              <a:t>apresentam</a:t>
            </a:r>
            <a:r>
              <a:rPr lang="en-US" dirty="0"/>
              <a:t> </a:t>
            </a:r>
            <a:r>
              <a:rPr lang="en-US" err="1"/>
              <a:t>baixo</a:t>
            </a:r>
            <a:r>
              <a:rPr lang="en-US" dirty="0"/>
              <a:t> </a:t>
            </a:r>
            <a:r>
              <a:rPr lang="en-US" err="1"/>
              <a:t>número</a:t>
            </a:r>
            <a:r>
              <a:rPr lang="en-US" dirty="0"/>
              <a:t> de </a:t>
            </a:r>
            <a:r>
              <a:rPr lang="en-US" err="1"/>
              <a:t>assentos</a:t>
            </a:r>
            <a:r>
              <a:rPr lang="en-US" dirty="0"/>
              <a:t>, </a:t>
            </a:r>
            <a:r>
              <a:rPr lang="en-US" err="1"/>
              <a:t>sinalizando</a:t>
            </a:r>
            <a:r>
              <a:rPr lang="en-US" dirty="0"/>
              <a:t> </a:t>
            </a:r>
            <a:r>
              <a:rPr lang="en-US" err="1"/>
              <a:t>que</a:t>
            </a:r>
            <a:r>
              <a:rPr lang="en-US" dirty="0"/>
              <a:t> </a:t>
            </a:r>
            <a:r>
              <a:rPr lang="en-US" err="1"/>
              <a:t>estabelecimentos</a:t>
            </a:r>
            <a:r>
              <a:rPr lang="en-US" dirty="0"/>
              <a:t> de rede </a:t>
            </a:r>
            <a:r>
              <a:rPr lang="en-US" err="1"/>
              <a:t>tendem</a:t>
            </a:r>
            <a:r>
              <a:rPr lang="en-US" dirty="0"/>
              <a:t> a ser </a:t>
            </a:r>
            <a:r>
              <a:rPr lang="en-US" err="1"/>
              <a:t>numerosos</a:t>
            </a:r>
            <a:r>
              <a:rPr lang="en-US" dirty="0"/>
              <a:t>, </a:t>
            </a:r>
            <a:r>
              <a:rPr lang="en-US" err="1"/>
              <a:t>porém</a:t>
            </a:r>
            <a:r>
              <a:rPr lang="en-US" dirty="0"/>
              <a:t>, com </a:t>
            </a:r>
            <a:r>
              <a:rPr lang="en-US" err="1"/>
              <a:t>baixa</a:t>
            </a:r>
            <a:r>
              <a:rPr lang="en-US" dirty="0"/>
              <a:t> </a:t>
            </a:r>
            <a:r>
              <a:rPr lang="en-US" err="1"/>
              <a:t>capacidade</a:t>
            </a:r>
            <a:r>
              <a:rPr lang="en-US" dirty="0"/>
              <a:t> de </a:t>
            </a:r>
            <a:r>
              <a:rPr lang="en-US" err="1"/>
              <a:t>assentos</a:t>
            </a:r>
            <a:r>
              <a:rPr lang="en-US" dirty="0"/>
              <a:t>.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4F2B1B-54B8-0792-A725-39D54824E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958" y="1648367"/>
            <a:ext cx="7440954" cy="460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DD86-DB1C-7064-F739-3C7697421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8FAB094-A6C1-7E54-1A8B-40AF8C42C0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D3558976-3AE6-A71B-5EF9-D9B49E1F3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27" y="0"/>
            <a:ext cx="95173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45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462D-C848-6ADE-F8B4-87014DF1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9A6C-8E61-D552-BBC8-5527F27A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895" y="307638"/>
            <a:ext cx="7288282" cy="2121177"/>
          </a:xfrm>
        </p:spPr>
        <p:txBody>
          <a:bodyPr/>
          <a:lstStyle/>
          <a:p>
            <a:r>
              <a:rPr lang="en-US" err="1"/>
              <a:t>Unidades</a:t>
            </a:r>
            <a:r>
              <a:rPr lang="en-US"/>
              <a:t> de rede e assentos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F0C86-1BF0-E43F-EEE1-59C924830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965" y="2763078"/>
            <a:ext cx="7288212" cy="34070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Estabelecimentos</a:t>
            </a:r>
            <a:r>
              <a:rPr lang="en-US" dirty="0"/>
              <a:t> de rede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numerosos</a:t>
            </a:r>
            <a:r>
              <a:rPr lang="en-US" dirty="0"/>
              <a:t> e com </a:t>
            </a:r>
            <a:r>
              <a:rPr lang="en-US" dirty="0" err="1"/>
              <a:t>poucos</a:t>
            </a:r>
            <a:r>
              <a:rPr lang="en-US" dirty="0"/>
              <a:t> </a:t>
            </a:r>
            <a:r>
              <a:rPr lang="en-US" dirty="0" err="1"/>
              <a:t>assentos</a:t>
            </a:r>
          </a:p>
          <a:p>
            <a:pPr marL="283210" lvl="1"/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estabelecimentos</a:t>
            </a:r>
            <a:r>
              <a:rPr lang="en-US" dirty="0"/>
              <a:t> </a:t>
            </a:r>
            <a:r>
              <a:rPr lang="en-US" dirty="0" err="1"/>
              <a:t>pertencentes</a:t>
            </a:r>
            <a:r>
              <a:rPr lang="en-US" dirty="0"/>
              <a:t> a redes </a:t>
            </a:r>
            <a:r>
              <a:rPr lang="en-US" dirty="0" err="1"/>
              <a:t>apresentam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de 50 </a:t>
            </a:r>
            <a:r>
              <a:rPr lang="en-US" dirty="0" err="1"/>
              <a:t>assentos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maioria</a:t>
            </a:r>
            <a:r>
              <a:rPr lang="en-US" dirty="0"/>
              <a:t>.</a:t>
            </a:r>
          </a:p>
          <a:p>
            <a:pPr marL="283210" lvl="1"/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Restaurante, Fast-Food e Bar </a:t>
            </a:r>
            <a:r>
              <a:rPr lang="en-US" dirty="0" err="1"/>
              <a:t>apresentam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quantidade</a:t>
            </a:r>
            <a:r>
              <a:rPr lang="en-US" dirty="0"/>
              <a:t> um </a:t>
            </a:r>
            <a:r>
              <a:rPr lang="en-US" dirty="0" err="1"/>
              <a:t>pouco</a:t>
            </a:r>
            <a:r>
              <a:rPr lang="en-US" dirty="0"/>
              <a:t> </a:t>
            </a:r>
            <a:r>
              <a:rPr lang="en-US" dirty="0" err="1"/>
              <a:t>maior</a:t>
            </a:r>
            <a:r>
              <a:rPr lang="en-US" dirty="0"/>
              <a:t> de </a:t>
            </a:r>
            <a:r>
              <a:rPr lang="en-US" dirty="0" err="1"/>
              <a:t>estabelecimentos</a:t>
            </a:r>
            <a:r>
              <a:rPr lang="en-US" dirty="0"/>
              <a:t> </a:t>
            </a:r>
            <a:r>
              <a:rPr lang="en-US" dirty="0" err="1"/>
              <a:t>apresentando</a:t>
            </a:r>
            <a:r>
              <a:rPr lang="en-US" dirty="0"/>
              <a:t> de 50 a 150 </a:t>
            </a:r>
            <a:r>
              <a:rPr lang="en-US" dirty="0" err="1"/>
              <a:t>assentos</a:t>
            </a:r>
            <a:r>
              <a:rPr lang="en-US" dirty="0"/>
              <a:t>, mas </a:t>
            </a:r>
            <a:r>
              <a:rPr lang="en-US" dirty="0" err="1"/>
              <a:t>ainda</a:t>
            </a:r>
            <a:r>
              <a:rPr lang="en-US" dirty="0"/>
              <a:t> </a:t>
            </a:r>
            <a:r>
              <a:rPr lang="en-US" dirty="0" err="1"/>
              <a:t>assim</a:t>
            </a:r>
            <a:r>
              <a:rPr lang="en-US" dirty="0"/>
              <a:t>, </a:t>
            </a:r>
            <a:r>
              <a:rPr lang="en-US" dirty="0" err="1"/>
              <a:t>tem</a:t>
            </a:r>
            <a:r>
              <a:rPr lang="en-US" dirty="0"/>
              <a:t> a </a:t>
            </a:r>
            <a:r>
              <a:rPr lang="en-US" dirty="0" err="1"/>
              <a:t>maioria</a:t>
            </a:r>
            <a:r>
              <a:rPr lang="en-US" dirty="0"/>
              <a:t> dos </a:t>
            </a:r>
            <a:r>
              <a:rPr lang="en-US" dirty="0" err="1"/>
              <a:t>seus</a:t>
            </a:r>
            <a:r>
              <a:rPr lang="en-US" dirty="0"/>
              <a:t> </a:t>
            </a:r>
            <a:r>
              <a:rPr lang="en-US" dirty="0" err="1"/>
              <a:t>estabelecimentos</a:t>
            </a:r>
            <a:r>
              <a:rPr lang="en-US" dirty="0"/>
              <a:t> com </a:t>
            </a:r>
            <a:r>
              <a:rPr lang="en-US" dirty="0" err="1"/>
              <a:t>menos</a:t>
            </a:r>
            <a:r>
              <a:rPr lang="en-US" dirty="0"/>
              <a:t> de 50.</a:t>
            </a:r>
          </a:p>
          <a:p>
            <a:pPr marL="283210" lvl="1"/>
            <a:r>
              <a:rPr lang="en-US" dirty="0" err="1"/>
              <a:t>Estabelecimentos</a:t>
            </a:r>
            <a:r>
              <a:rPr lang="en-US" dirty="0"/>
              <a:t> </a:t>
            </a:r>
            <a:r>
              <a:rPr lang="en-US" dirty="0" err="1"/>
              <a:t>pertencentes</a:t>
            </a:r>
            <a:r>
              <a:rPr lang="en-US" dirty="0"/>
              <a:t> a redes </a:t>
            </a:r>
            <a:r>
              <a:rPr lang="en-US" dirty="0" err="1"/>
              <a:t>são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maioria</a:t>
            </a:r>
            <a:r>
              <a:rPr lang="en-US" dirty="0"/>
              <a:t>, </a:t>
            </a:r>
            <a:r>
              <a:rPr lang="en-US" dirty="0" err="1"/>
              <a:t>numerosos</a:t>
            </a:r>
            <a:r>
              <a:rPr lang="en-US" dirty="0"/>
              <a:t> e com </a:t>
            </a:r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capacidade</a:t>
            </a:r>
            <a:r>
              <a:rPr lang="en-US" dirty="0"/>
              <a:t> de </a:t>
            </a:r>
            <a:r>
              <a:rPr lang="en-US" dirty="0" err="1"/>
              <a:t>assentos</a:t>
            </a:r>
            <a:r>
              <a:rPr lang="en-US" dirty="0"/>
              <a:t>.</a:t>
            </a:r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1BB0B88-F4D4-90A0-580C-E3BDC94A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17B8C6C-682E-83F7-CDB9-501F308A3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04" y="1628"/>
            <a:ext cx="4465538" cy="320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46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6B8BC-91C9-C443-E0B9-9FFB1F138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23CF-70AD-E70E-1E42-EC02BF5B2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513" y="4409"/>
            <a:ext cx="7288282" cy="2121177"/>
          </a:xfrm>
        </p:spPr>
        <p:txBody>
          <a:bodyPr/>
          <a:lstStyle/>
          <a:p>
            <a:r>
              <a:rPr lang="en-US" err="1"/>
              <a:t>Estabelecimentos</a:t>
            </a:r>
            <a:r>
              <a:rPr lang="en-US"/>
              <a:t> e assentos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92519-001C-9A32-E187-7C22D7F76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5831" y="2448851"/>
            <a:ext cx="6086294" cy="34070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Estabelecimentos</a:t>
            </a:r>
            <a:r>
              <a:rPr lang="en-US" dirty="0"/>
              <a:t> de rede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numerosos</a:t>
            </a:r>
            <a:r>
              <a:rPr lang="en-US" dirty="0"/>
              <a:t> e com </a:t>
            </a:r>
            <a:r>
              <a:rPr lang="en-US" dirty="0" err="1"/>
              <a:t>poucos</a:t>
            </a:r>
            <a:r>
              <a:rPr lang="en-US" dirty="0"/>
              <a:t> </a:t>
            </a:r>
            <a:r>
              <a:rPr lang="en-US" dirty="0" err="1"/>
              <a:t>assentos</a:t>
            </a:r>
            <a:endParaRPr lang="en-US"/>
          </a:p>
          <a:p>
            <a:pPr marL="283210" lvl="1"/>
            <a:r>
              <a:rPr lang="en-US" dirty="0" err="1"/>
              <a:t>Restaurantes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estabelecimentos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possuem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assentos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média</a:t>
            </a:r>
            <a:r>
              <a:rPr lang="en-US" dirty="0"/>
              <a:t>, </a:t>
            </a:r>
            <a:r>
              <a:rPr lang="en-US" dirty="0" err="1"/>
              <a:t>seguido</a:t>
            </a:r>
            <a:r>
              <a:rPr lang="en-US" dirty="0"/>
              <a:t> dos Bares e de Fast-food.</a:t>
            </a:r>
          </a:p>
          <a:p>
            <a:pPr marL="283210" lvl="1"/>
            <a:r>
              <a:rPr lang="en-US" dirty="0"/>
              <a:t>Ao  </a:t>
            </a:r>
            <a:r>
              <a:rPr lang="en-US" dirty="0" err="1"/>
              <a:t>comparar</a:t>
            </a:r>
            <a:r>
              <a:rPr lang="en-US" dirty="0"/>
              <a:t> redes vs </a:t>
            </a:r>
            <a:r>
              <a:rPr lang="en-US" dirty="0" err="1"/>
              <a:t>independentes</a:t>
            </a:r>
            <a:r>
              <a:rPr lang="en-US" dirty="0"/>
              <a:t> o </a:t>
            </a:r>
            <a:r>
              <a:rPr lang="en-US" dirty="0" err="1"/>
              <a:t>padrão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muda</a:t>
            </a:r>
            <a:r>
              <a:rPr lang="en-US" dirty="0"/>
              <a:t>: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restaurantes</a:t>
            </a:r>
            <a:r>
              <a:rPr lang="en-US" dirty="0"/>
              <a:t> </a:t>
            </a:r>
            <a:r>
              <a:rPr lang="en-US" dirty="0" err="1"/>
              <a:t>possuem</a:t>
            </a:r>
            <a:r>
              <a:rPr lang="en-US" dirty="0"/>
              <a:t> o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assentos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média</a:t>
            </a:r>
            <a:r>
              <a:rPr lang="en-US" dirty="0"/>
              <a:t>, </a:t>
            </a:r>
            <a:r>
              <a:rPr lang="en-US" dirty="0" err="1"/>
              <a:t>seguido</a:t>
            </a:r>
            <a:r>
              <a:rPr lang="en-US" dirty="0"/>
              <a:t> dos Bares. Redes de fast-food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média</a:t>
            </a:r>
            <a:r>
              <a:rPr lang="en-US" dirty="0"/>
              <a:t> de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assentos</a:t>
            </a:r>
            <a:r>
              <a:rPr lang="en-US" dirty="0"/>
              <a:t>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comparado</a:t>
            </a:r>
            <a:r>
              <a:rPr lang="en-US" dirty="0"/>
              <a:t> à </a:t>
            </a:r>
            <a:r>
              <a:rPr lang="en-US" dirty="0" err="1"/>
              <a:t>média</a:t>
            </a:r>
            <a:r>
              <a:rPr lang="en-US" dirty="0"/>
              <a:t> de </a:t>
            </a:r>
            <a:r>
              <a:rPr lang="en-US" dirty="0" err="1"/>
              <a:t>independentes</a:t>
            </a:r>
            <a:r>
              <a:rPr lang="en-US" dirty="0"/>
              <a:t> da </a:t>
            </a:r>
            <a:r>
              <a:rPr lang="en-US" dirty="0" err="1"/>
              <a:t>categoria</a:t>
            </a:r>
            <a:r>
              <a:rPr lang="en-US" dirty="0"/>
              <a:t>.</a:t>
            </a:r>
          </a:p>
          <a:p>
            <a:pPr marL="283210" lvl="1"/>
            <a:endParaRPr lang="en-US" dirty="0"/>
          </a:p>
          <a:p>
            <a:pPr marL="283210"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5509434-4132-55C5-1DA6-9A672107B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 descr="A bar graph with blue and green rectangles&#10;&#10;AI-generated content may be incorrect.">
            <a:extLst>
              <a:ext uri="{FF2B5EF4-FFF2-40B4-BE49-F238E27FC236}">
                <a16:creationId xmlns:a16="http://schemas.microsoft.com/office/drawing/2014/main" id="{B09FAE11-F327-844B-D493-31ABC2905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87" y="147736"/>
            <a:ext cx="5285786" cy="3286714"/>
          </a:xfrm>
          <a:prstGeom prst="rect">
            <a:avLst/>
          </a:prstGeom>
        </p:spPr>
      </p:pic>
      <p:pic>
        <p:nvPicPr>
          <p:cNvPr id="6" name="Picture 5" descr="A graph of bar graph&#10;&#10;AI-generated content may be incorrect.">
            <a:extLst>
              <a:ext uri="{FF2B5EF4-FFF2-40B4-BE49-F238E27FC236}">
                <a16:creationId xmlns:a16="http://schemas.microsoft.com/office/drawing/2014/main" id="{A28E7EBC-44C0-7D41-061D-FBBA62BE0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2" y="3430178"/>
            <a:ext cx="5201044" cy="341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23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C8098-0C4A-FE07-2FC0-553F3946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325E-8526-05B5-D0AD-2065743A8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917" y="1256873"/>
            <a:ext cx="4179570" cy="3377354"/>
          </a:xfrm>
        </p:spPr>
        <p:txBody>
          <a:bodyPr/>
          <a:lstStyle/>
          <a:p>
            <a:r>
              <a:rPr lang="en-US" dirty="0" err="1"/>
              <a:t>Análise</a:t>
            </a:r>
            <a:r>
              <a:rPr lang="en-US" dirty="0"/>
              <a:t> </a:t>
            </a:r>
            <a:r>
              <a:rPr lang="en-US" dirty="0" err="1"/>
              <a:t>espacial</a:t>
            </a:r>
            <a:r>
              <a:rPr lang="en-US" dirty="0"/>
              <a:t> / </a:t>
            </a:r>
            <a:r>
              <a:rPr lang="en-US" dirty="0" err="1"/>
              <a:t>geográfica</a:t>
            </a:r>
          </a:p>
        </p:txBody>
      </p:sp>
    </p:spTree>
    <p:extLst>
      <p:ext uri="{BB962C8B-B14F-4D97-AF65-F5344CB8AC3E}">
        <p14:creationId xmlns:p14="http://schemas.microsoft.com/office/powerpoint/2010/main" val="443858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26C40-7B0F-AC30-C426-6460410F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BFAC7F2-DF1A-5DA2-236E-9CB802BA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E7845FF-3826-DA5A-67B7-A8A27A4C0C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85612" y="-1522"/>
            <a:ext cx="6289702" cy="3433801"/>
          </a:xfrm>
          <a:prstGeom prst="rect">
            <a:avLst/>
          </a:prstGeom>
        </p:spPr>
      </p:pic>
      <p:pic>
        <p:nvPicPr>
          <p:cNvPr id="11" name="Picture 10" descr="A graph of a bar chart&#10;&#10;AI-generated content may be incorrect.">
            <a:extLst>
              <a:ext uri="{FF2B5EF4-FFF2-40B4-BE49-F238E27FC236}">
                <a16:creationId xmlns:a16="http://schemas.microsoft.com/office/drawing/2014/main" id="{AEB51758-B509-37D4-572C-AED60EF02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116" y="3433589"/>
            <a:ext cx="6294354" cy="343649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67BE4A3-B792-BAFB-47EE-D45BF8BC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01" y="-64303"/>
            <a:ext cx="4977897" cy="1780860"/>
          </a:xfrm>
        </p:spPr>
        <p:txBody>
          <a:bodyPr/>
          <a:lstStyle/>
          <a:p>
            <a:r>
              <a:rPr lang="en-US"/>
              <a:t>Ruas </a:t>
            </a:r>
            <a:r>
              <a:rPr lang="en-US" err="1"/>
              <a:t>movimentadas</a:t>
            </a:r>
            <a:r>
              <a:rPr lang="en-US"/>
              <a:t> v.s. capacidade de </a:t>
            </a:r>
            <a:r>
              <a:rPr lang="en-US" err="1"/>
              <a:t>unidades</a:t>
            </a:r>
            <a:endParaRPr lang="en-US"/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1E1C39CA-2A3A-0D25-0820-4EBF7AE0D8E4}"/>
              </a:ext>
            </a:extLst>
          </p:cNvPr>
          <p:cNvSpPr txBox="1">
            <a:spLocks/>
          </p:cNvSpPr>
          <p:nvPr/>
        </p:nvSpPr>
        <p:spPr>
          <a:xfrm>
            <a:off x="202172" y="2236385"/>
            <a:ext cx="5513074" cy="3429681"/>
          </a:xfrm>
          <a:prstGeom prst="rect">
            <a:avLst/>
          </a:prstGeom>
        </p:spPr>
        <p:txBody>
          <a:bodyPr vert="horz" lIns="91440" tIns="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err="1"/>
              <a:t>Existirem</a:t>
            </a:r>
            <a:r>
              <a:rPr lang="en-US" sz="2000" dirty="0"/>
              <a:t> </a:t>
            </a:r>
            <a:r>
              <a:rPr lang="en-US" sz="2000" err="1"/>
              <a:t>somente</a:t>
            </a:r>
            <a:r>
              <a:rPr lang="en-US" sz="2000" dirty="0"/>
              <a:t> 334 </a:t>
            </a:r>
            <a:r>
              <a:rPr lang="en-US" sz="2000" err="1"/>
              <a:t>ruas</a:t>
            </a:r>
            <a:r>
              <a:rPr lang="en-US" sz="2000" dirty="0"/>
              <a:t> </a:t>
            </a:r>
            <a:r>
              <a:rPr lang="en-US" sz="2000" err="1"/>
              <a:t>que</a:t>
            </a:r>
            <a:r>
              <a:rPr lang="en-US" sz="2000" dirty="0"/>
              <a:t> </a:t>
            </a:r>
            <a:r>
              <a:rPr lang="en-US" sz="2000" err="1"/>
              <a:t>possuem</a:t>
            </a:r>
            <a:r>
              <a:rPr lang="en-US" sz="2000" dirty="0"/>
              <a:t> um </a:t>
            </a:r>
            <a:r>
              <a:rPr lang="en-US" sz="2000" err="1"/>
              <a:t>único</a:t>
            </a:r>
            <a:r>
              <a:rPr lang="en-US" sz="2000" dirty="0"/>
              <a:t> </a:t>
            </a:r>
            <a:r>
              <a:rPr lang="en-US" sz="2000" err="1"/>
              <a:t>estabelecimento</a:t>
            </a:r>
            <a:r>
              <a:rPr lang="en-US" sz="2000"/>
              <a:t>;</a:t>
            </a:r>
            <a:endParaRPr lang="en-US" sz="2000" dirty="0"/>
          </a:p>
          <a:p>
            <a:pPr algn="just"/>
            <a:r>
              <a:rPr lang="en-US" sz="2000" dirty="0"/>
              <a:t>As 10 </a:t>
            </a:r>
            <a:r>
              <a:rPr lang="en-US" sz="2000" err="1"/>
              <a:t>ruas</a:t>
            </a:r>
            <a:r>
              <a:rPr lang="en-US" sz="2000" dirty="0"/>
              <a:t> </a:t>
            </a:r>
            <a:r>
              <a:rPr lang="en-US" sz="2000" err="1"/>
              <a:t>contendo</a:t>
            </a:r>
            <a:r>
              <a:rPr lang="en-US" sz="2000" dirty="0"/>
              <a:t> o </a:t>
            </a:r>
            <a:r>
              <a:rPr lang="en-US" sz="2000" err="1"/>
              <a:t>maior</a:t>
            </a:r>
            <a:r>
              <a:rPr lang="en-US" sz="2000" dirty="0"/>
              <a:t> </a:t>
            </a:r>
            <a:r>
              <a:rPr lang="en-US" sz="2000" err="1"/>
              <a:t>número</a:t>
            </a:r>
            <a:r>
              <a:rPr lang="en-US" sz="2000" dirty="0"/>
              <a:t> de </a:t>
            </a:r>
            <a:r>
              <a:rPr lang="en-US" sz="2000" err="1"/>
              <a:t>estabelecimentos</a:t>
            </a:r>
            <a:r>
              <a:rPr lang="en-US" sz="2000" dirty="0"/>
              <a:t> </a:t>
            </a:r>
            <a:r>
              <a:rPr lang="en-US" sz="2000" err="1"/>
              <a:t>apresentam</a:t>
            </a:r>
            <a:r>
              <a:rPr lang="en-US" sz="2000" dirty="0"/>
              <a:t> </a:t>
            </a:r>
            <a:r>
              <a:rPr lang="en-US" sz="2000" err="1"/>
              <a:t>uma</a:t>
            </a:r>
            <a:r>
              <a:rPr lang="en-US" sz="2000" dirty="0"/>
              <a:t> grande </a:t>
            </a:r>
            <a:r>
              <a:rPr lang="en-US" sz="2000" err="1"/>
              <a:t>quantidade</a:t>
            </a:r>
            <a:r>
              <a:rPr lang="en-US" sz="2000" dirty="0"/>
              <a:t> de outliers, </a:t>
            </a:r>
            <a:r>
              <a:rPr lang="en-US" sz="2000" err="1"/>
              <a:t>contendo</a:t>
            </a:r>
            <a:r>
              <a:rPr lang="en-US" sz="2000" dirty="0"/>
              <a:t> </a:t>
            </a:r>
            <a:r>
              <a:rPr lang="en-US" sz="2000" err="1"/>
              <a:t>estabelecimentos</a:t>
            </a:r>
            <a:r>
              <a:rPr lang="en-US" sz="2000" dirty="0"/>
              <a:t> com </a:t>
            </a:r>
            <a:r>
              <a:rPr lang="en-US" sz="2000" err="1"/>
              <a:t>mais</a:t>
            </a:r>
            <a:r>
              <a:rPr lang="en-US" sz="2000" dirty="0"/>
              <a:t> de 150 </a:t>
            </a:r>
            <a:r>
              <a:rPr lang="en-US" sz="2000" err="1"/>
              <a:t>assentos</a:t>
            </a:r>
            <a:r>
              <a:rPr lang="en-US" sz="2000" dirty="0"/>
              <a:t>;</a:t>
            </a:r>
          </a:p>
          <a:p>
            <a:pPr algn="just"/>
            <a:r>
              <a:rPr lang="en-US" sz="2000" err="1"/>
              <a:t>Isso</a:t>
            </a:r>
            <a:r>
              <a:rPr lang="en-US" sz="2000" dirty="0"/>
              <a:t> </a:t>
            </a:r>
            <a:r>
              <a:rPr lang="en-US" sz="2000" err="1"/>
              <a:t>nos</a:t>
            </a:r>
            <a:r>
              <a:rPr lang="en-US" sz="2000" dirty="0"/>
              <a:t> </a:t>
            </a:r>
            <a:r>
              <a:rPr lang="en-US" sz="2000" err="1"/>
              <a:t>sugere</a:t>
            </a:r>
            <a:r>
              <a:rPr lang="en-US" sz="2000" dirty="0"/>
              <a:t> </a:t>
            </a:r>
            <a:r>
              <a:rPr lang="en-US" sz="2000" err="1"/>
              <a:t>que</a:t>
            </a:r>
            <a:r>
              <a:rPr lang="en-US" sz="2000" dirty="0"/>
              <a:t> </a:t>
            </a:r>
            <a:r>
              <a:rPr lang="en-US" sz="2000" err="1"/>
              <a:t>essas</a:t>
            </a:r>
            <a:r>
              <a:rPr lang="en-US" sz="2000" dirty="0"/>
              <a:t> </a:t>
            </a:r>
            <a:r>
              <a:rPr lang="en-US" sz="2000" err="1"/>
              <a:t>regiões</a:t>
            </a:r>
            <a:r>
              <a:rPr lang="en-US" sz="2000" dirty="0"/>
              <a:t> </a:t>
            </a:r>
            <a:r>
              <a:rPr lang="en-US" sz="2000" err="1"/>
              <a:t>podem</a:t>
            </a:r>
            <a:r>
              <a:rPr lang="en-US" sz="2000" dirty="0"/>
              <a:t> ser </a:t>
            </a:r>
            <a:r>
              <a:rPr lang="en-US" sz="2000" err="1"/>
              <a:t>bastante</a:t>
            </a:r>
            <a:r>
              <a:rPr lang="en-US" sz="2000" dirty="0"/>
              <a:t> </a:t>
            </a:r>
            <a:r>
              <a:rPr lang="en-US" sz="2000" err="1"/>
              <a:t>movimentadas</a:t>
            </a:r>
            <a:r>
              <a:rPr lang="en-US" sz="2000" dirty="0"/>
              <a:t> </a:t>
            </a:r>
            <a:r>
              <a:rPr lang="en-US" sz="2000" err="1"/>
              <a:t>por</a:t>
            </a:r>
            <a:r>
              <a:rPr lang="en-US" sz="2000" dirty="0"/>
              <a:t> </a:t>
            </a:r>
            <a:r>
              <a:rPr lang="en-US" sz="2000" err="1"/>
              <a:t>clientes</a:t>
            </a:r>
            <a:r>
              <a:rPr lang="en-US" sz="2000" dirty="0"/>
              <a:t> e, </a:t>
            </a:r>
            <a:r>
              <a:rPr lang="en-US" sz="2000" err="1"/>
              <a:t>portanto</a:t>
            </a:r>
            <a:r>
              <a:rPr lang="en-US" sz="2000" dirty="0"/>
              <a:t>, </a:t>
            </a:r>
            <a:r>
              <a:rPr lang="en-US" sz="2000" err="1"/>
              <a:t>comportam</a:t>
            </a:r>
            <a:r>
              <a:rPr lang="en-US" sz="2000" dirty="0"/>
              <a:t> </a:t>
            </a:r>
            <a:r>
              <a:rPr lang="en-US" sz="2000" err="1"/>
              <a:t>grandes</a:t>
            </a:r>
            <a:r>
              <a:rPr lang="en-US" sz="2000" dirty="0"/>
              <a:t> </a:t>
            </a:r>
            <a:r>
              <a:rPr lang="en-US" sz="2000" err="1"/>
              <a:t>estabelecimentos</a:t>
            </a:r>
            <a:r>
              <a:rPr lang="en-US" sz="2000" dirty="0"/>
              <a:t> com grande </a:t>
            </a:r>
            <a:r>
              <a:rPr lang="en-US" sz="2000" err="1"/>
              <a:t>número</a:t>
            </a:r>
            <a:r>
              <a:rPr lang="en-US" sz="2000" dirty="0"/>
              <a:t> de </a:t>
            </a:r>
            <a:r>
              <a:rPr lang="en-US" sz="2000" err="1"/>
              <a:t>assentos</a:t>
            </a:r>
            <a:r>
              <a:rPr lang="en-US" sz="2000" dirty="0"/>
              <a:t> para </a:t>
            </a:r>
            <a:r>
              <a:rPr lang="en-US" sz="2000" err="1"/>
              <a:t>suprir</a:t>
            </a:r>
            <a:r>
              <a:rPr lang="en-US" sz="2000" dirty="0"/>
              <a:t> a </a:t>
            </a:r>
            <a:r>
              <a:rPr lang="en-US" sz="2000" err="1"/>
              <a:t>demanda</a:t>
            </a:r>
            <a:r>
              <a:rPr lang="en-US" sz="2000" dirty="0"/>
              <a:t>.</a:t>
            </a:r>
          </a:p>
          <a:p>
            <a:pPr marL="285750" indent="-285750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429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83649-4A8D-BBCB-09A6-0D067586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060A-1460-C200-DEBE-B9DFAF736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917" y="1256873"/>
            <a:ext cx="4179570" cy="3377354"/>
          </a:xfrm>
        </p:spPr>
        <p:txBody>
          <a:bodyPr/>
          <a:lstStyle/>
          <a:p>
            <a:r>
              <a:rPr lang="en-US" dirty="0" err="1"/>
              <a:t>conclusões</a:t>
            </a:r>
          </a:p>
        </p:txBody>
      </p:sp>
    </p:spTree>
    <p:extLst>
      <p:ext uri="{BB962C8B-B14F-4D97-AF65-F5344CB8AC3E}">
        <p14:creationId xmlns:p14="http://schemas.microsoft.com/office/powerpoint/2010/main" val="1095801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327" y="234051"/>
            <a:ext cx="5884027" cy="764995"/>
          </a:xfrm>
        </p:spPr>
        <p:txBody>
          <a:bodyPr/>
          <a:lstStyle/>
          <a:p>
            <a:r>
              <a:rPr lang="en-US"/>
              <a:t>Café bem localizado</a:t>
            </a:r>
          </a:p>
        </p:txBody>
      </p:sp>
      <p:pic>
        <p:nvPicPr>
          <p:cNvPr id="47" name="Picture Placeholder 46" descr="Los Angeles Califórnia Linha Do - Foto gratuita no Pixabay">
            <a:extLst>
              <a:ext uri="{FF2B5EF4-FFF2-40B4-BE49-F238E27FC236}">
                <a16:creationId xmlns:a16="http://schemas.microsoft.com/office/drawing/2014/main" id="{F55BC7A4-EE4B-7EFC-C325-408D66C3CB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9945" r="29945"/>
          <a:stretch/>
        </p:blipFill>
        <p:spPr>
          <a:xfrm>
            <a:off x="-28230" y="-9144"/>
            <a:ext cx="5481955" cy="687628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90239" y="1225516"/>
            <a:ext cx="6606331" cy="2599672"/>
          </a:xfrm>
        </p:spPr>
        <p:txBody>
          <a:bodyPr vert="horz" lIns="91440" tIns="0" rIns="91440" bIns="45720" rtlCol="0" anchor="t">
            <a:noAutofit/>
          </a:bodyPr>
          <a:lstStyle/>
          <a:p>
            <a:pPr marL="285750" indent="-285750" algn="just">
              <a:buChar char="•"/>
            </a:pPr>
            <a:r>
              <a:rPr lang="en-US" b="1" dirty="0"/>
              <a:t>Tipo de </a:t>
            </a:r>
            <a:r>
              <a:rPr lang="en-US" b="1" err="1"/>
              <a:t>Estabelecimento</a:t>
            </a:r>
            <a:r>
              <a:rPr lang="en-US" b="1" dirty="0"/>
              <a:t> e Escala</a:t>
            </a:r>
            <a:r>
              <a:rPr lang="en-US" dirty="0"/>
              <a:t>: </a:t>
            </a:r>
            <a:r>
              <a:rPr lang="en-US" err="1"/>
              <a:t>Embora</a:t>
            </a:r>
            <a:r>
              <a:rPr lang="en-US" dirty="0"/>
              <a:t> </a:t>
            </a:r>
            <a:r>
              <a:rPr lang="en-US" err="1"/>
              <a:t>os</a:t>
            </a:r>
            <a:r>
              <a:rPr lang="en-US" dirty="0"/>
              <a:t> </a:t>
            </a:r>
            <a:r>
              <a:rPr lang="en-US" err="1"/>
              <a:t>restaurantes</a:t>
            </a:r>
            <a:r>
              <a:rPr lang="en-US" dirty="0"/>
              <a:t> </a:t>
            </a:r>
            <a:r>
              <a:rPr lang="en-US" err="1"/>
              <a:t>dominem</a:t>
            </a:r>
            <a:r>
              <a:rPr lang="en-US" dirty="0"/>
              <a:t> o </a:t>
            </a:r>
            <a:r>
              <a:rPr lang="en-US" err="1"/>
              <a:t>cenário</a:t>
            </a:r>
            <a:r>
              <a:rPr lang="en-US" dirty="0"/>
              <a:t> (75,17%), as cafeterias </a:t>
            </a:r>
            <a:r>
              <a:rPr lang="en-US" err="1"/>
              <a:t>representam</a:t>
            </a:r>
            <a:r>
              <a:rPr lang="en-US" dirty="0"/>
              <a:t> um </a:t>
            </a:r>
            <a:r>
              <a:rPr lang="en-US" err="1"/>
              <a:t>nicho</a:t>
            </a:r>
            <a:r>
              <a:rPr lang="en-US" dirty="0"/>
              <a:t> de 4,51%. O </a:t>
            </a:r>
            <a:r>
              <a:rPr lang="en-US" err="1"/>
              <a:t>projeto</a:t>
            </a:r>
            <a:r>
              <a:rPr lang="en-US" dirty="0"/>
              <a:t> </a:t>
            </a:r>
            <a:r>
              <a:rPr lang="en-US" err="1"/>
              <a:t>deve</a:t>
            </a:r>
            <a:r>
              <a:rPr lang="en-US" dirty="0"/>
              <a:t> se </a:t>
            </a:r>
            <a:r>
              <a:rPr lang="en-US" err="1"/>
              <a:t>posicionar</a:t>
            </a:r>
            <a:r>
              <a:rPr lang="en-US" dirty="0"/>
              <a:t> </a:t>
            </a:r>
            <a:r>
              <a:rPr lang="en-US" err="1"/>
              <a:t>como</a:t>
            </a:r>
            <a:r>
              <a:rPr lang="en-US" dirty="0"/>
              <a:t> um "Café" de </a:t>
            </a:r>
            <a:r>
              <a:rPr lang="en-US" err="1"/>
              <a:t>médio</a:t>
            </a:r>
            <a:r>
              <a:rPr lang="en-US" dirty="0"/>
              <a:t> a grande </a:t>
            </a:r>
            <a:r>
              <a:rPr lang="en-US" err="1"/>
              <a:t>porte</a:t>
            </a:r>
            <a:r>
              <a:rPr lang="en-US" dirty="0"/>
              <a:t>. A </a:t>
            </a:r>
            <a:r>
              <a:rPr lang="en-US" err="1"/>
              <a:t>análise</a:t>
            </a:r>
            <a:r>
              <a:rPr lang="en-US" dirty="0"/>
              <a:t> das </a:t>
            </a:r>
            <a:r>
              <a:rPr lang="en-US" err="1"/>
              <a:t>ruas</a:t>
            </a:r>
            <a:r>
              <a:rPr lang="en-US" dirty="0"/>
              <a:t> </a:t>
            </a:r>
            <a:r>
              <a:rPr lang="en-US" err="1"/>
              <a:t>mais</a:t>
            </a:r>
            <a:r>
              <a:rPr lang="en-US" dirty="0"/>
              <a:t> </a:t>
            </a:r>
            <a:r>
              <a:rPr lang="en-US" err="1"/>
              <a:t>populares</a:t>
            </a:r>
            <a:r>
              <a:rPr lang="en-US" dirty="0"/>
              <a:t> </a:t>
            </a:r>
            <a:r>
              <a:rPr lang="en-US" err="1"/>
              <a:t>revelou</a:t>
            </a:r>
            <a:r>
              <a:rPr lang="en-US" dirty="0"/>
              <a:t> a </a:t>
            </a:r>
            <a:r>
              <a:rPr lang="en-US" err="1"/>
              <a:t>presença</a:t>
            </a:r>
            <a:r>
              <a:rPr lang="en-US" dirty="0"/>
              <a:t> de </a:t>
            </a:r>
            <a:r>
              <a:rPr lang="en-US" err="1"/>
              <a:t>estabelecimentos</a:t>
            </a:r>
            <a:r>
              <a:rPr lang="en-US" dirty="0"/>
              <a:t> com </a:t>
            </a:r>
            <a:r>
              <a:rPr lang="en-US" err="1"/>
              <a:t>mais</a:t>
            </a:r>
            <a:r>
              <a:rPr lang="en-US" dirty="0"/>
              <a:t> de 150 </a:t>
            </a:r>
            <a:r>
              <a:rPr lang="en-US" err="1"/>
              <a:t>assentos</a:t>
            </a:r>
            <a:r>
              <a:rPr lang="en-US" dirty="0"/>
              <a:t> para </a:t>
            </a:r>
            <a:r>
              <a:rPr lang="en-US" err="1"/>
              <a:t>suprir</a:t>
            </a:r>
            <a:r>
              <a:rPr lang="en-US" dirty="0"/>
              <a:t> o alto </a:t>
            </a:r>
            <a:r>
              <a:rPr lang="en-US" err="1"/>
              <a:t>fluxo</a:t>
            </a:r>
            <a:r>
              <a:rPr lang="en-US" dirty="0"/>
              <a:t> de </a:t>
            </a:r>
            <a:r>
              <a:rPr lang="en-US" err="1"/>
              <a:t>clientes</a:t>
            </a:r>
            <a:r>
              <a:rPr lang="en-US" dirty="0"/>
              <a:t>, </a:t>
            </a:r>
            <a:r>
              <a:rPr lang="en-US" err="1"/>
              <a:t>sugerindo</a:t>
            </a:r>
            <a:r>
              <a:rPr lang="en-US" dirty="0"/>
              <a:t> </a:t>
            </a:r>
            <a:r>
              <a:rPr lang="en-US" err="1"/>
              <a:t>que</a:t>
            </a:r>
            <a:r>
              <a:rPr lang="en-US" dirty="0"/>
              <a:t> o </a:t>
            </a:r>
            <a:r>
              <a:rPr lang="en-US" err="1"/>
              <a:t>modelo</a:t>
            </a:r>
            <a:r>
              <a:rPr lang="en-US" dirty="0"/>
              <a:t> de </a:t>
            </a:r>
            <a:r>
              <a:rPr lang="en-US" err="1"/>
              <a:t>robôs</a:t>
            </a:r>
            <a:r>
              <a:rPr lang="en-US" dirty="0"/>
              <a:t> é ideal para </a:t>
            </a:r>
            <a:r>
              <a:rPr lang="en-US" err="1"/>
              <a:t>locais</a:t>
            </a:r>
            <a:r>
              <a:rPr lang="en-US" dirty="0"/>
              <a:t> de </a:t>
            </a:r>
            <a:r>
              <a:rPr lang="en-US" err="1"/>
              <a:t>alta</a:t>
            </a:r>
            <a:r>
              <a:rPr lang="en-US" dirty="0"/>
              <a:t> </a:t>
            </a:r>
            <a:r>
              <a:rPr lang="en-US" err="1"/>
              <a:t>rotatividade</a:t>
            </a:r>
            <a:r>
              <a:rPr lang="en-US" dirty="0"/>
              <a:t>, </a:t>
            </a:r>
            <a:r>
              <a:rPr lang="en-US" err="1"/>
              <a:t>onde</a:t>
            </a:r>
            <a:r>
              <a:rPr lang="en-US" dirty="0"/>
              <a:t> a </a:t>
            </a:r>
            <a:r>
              <a:rPr lang="en-US" err="1"/>
              <a:t>eficiência</a:t>
            </a:r>
            <a:r>
              <a:rPr lang="en-US" dirty="0"/>
              <a:t> </a:t>
            </a:r>
            <a:r>
              <a:rPr lang="en-US" err="1"/>
              <a:t>operacional</a:t>
            </a:r>
            <a:r>
              <a:rPr lang="en-US"/>
              <a:t> é crucial.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FF1BD20-7B1F-56E3-184E-9474BE9AD1BC}"/>
              </a:ext>
            </a:extLst>
          </p:cNvPr>
          <p:cNvSpPr txBox="1">
            <a:spLocks/>
          </p:cNvSpPr>
          <p:nvPr/>
        </p:nvSpPr>
        <p:spPr>
          <a:xfrm>
            <a:off x="5692537" y="4260947"/>
            <a:ext cx="5907176" cy="1979073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err="1"/>
              <a:t>Localização</a:t>
            </a:r>
            <a:r>
              <a:rPr lang="en-US" b="1" dirty="0"/>
              <a:t> Premium</a:t>
            </a:r>
            <a:r>
              <a:rPr lang="en-US" dirty="0"/>
              <a:t>: A </a:t>
            </a:r>
            <a:r>
              <a:rPr lang="en-US" err="1"/>
              <a:t>estratégia</a:t>
            </a:r>
            <a:r>
              <a:rPr lang="en-US" dirty="0"/>
              <a:t> </a:t>
            </a:r>
            <a:r>
              <a:rPr lang="en-US" err="1"/>
              <a:t>deve</a:t>
            </a:r>
            <a:r>
              <a:rPr lang="en-US" dirty="0"/>
              <a:t> </a:t>
            </a:r>
            <a:r>
              <a:rPr lang="en-US" err="1"/>
              <a:t>focar</a:t>
            </a:r>
            <a:r>
              <a:rPr lang="en-US" dirty="0"/>
              <a:t> </a:t>
            </a:r>
            <a:r>
              <a:rPr lang="en-US" err="1"/>
              <a:t>em</a:t>
            </a:r>
            <a:r>
              <a:rPr lang="en-US" dirty="0"/>
              <a:t> </a:t>
            </a:r>
            <a:r>
              <a:rPr lang="en-US" err="1"/>
              <a:t>uma</a:t>
            </a:r>
            <a:r>
              <a:rPr lang="en-US" dirty="0"/>
              <a:t> das 10 </a:t>
            </a:r>
            <a:r>
              <a:rPr lang="en-US" err="1"/>
              <a:t>ruas</a:t>
            </a:r>
            <a:r>
              <a:rPr lang="en-US" dirty="0"/>
              <a:t> com </a:t>
            </a:r>
            <a:r>
              <a:rPr lang="en-US" err="1"/>
              <a:t>maior</a:t>
            </a:r>
            <a:r>
              <a:rPr lang="en-US" dirty="0"/>
              <a:t> </a:t>
            </a:r>
            <a:r>
              <a:rPr lang="en-US" err="1"/>
              <a:t>densidade</a:t>
            </a:r>
            <a:r>
              <a:rPr lang="en-US" dirty="0"/>
              <a:t> de </a:t>
            </a:r>
            <a:r>
              <a:rPr lang="en-US" err="1"/>
              <a:t>estabelecimentos</a:t>
            </a:r>
            <a:r>
              <a:rPr lang="en-US" dirty="0"/>
              <a:t> (</a:t>
            </a:r>
            <a:r>
              <a:rPr lang="en-US" err="1"/>
              <a:t>como</a:t>
            </a:r>
            <a:r>
              <a:rPr lang="en-US" dirty="0"/>
              <a:t> a W Sunset Blvd </a:t>
            </a:r>
            <a:r>
              <a:rPr lang="en-US" err="1"/>
              <a:t>ou</a:t>
            </a:r>
            <a:r>
              <a:rPr lang="en-US" dirty="0"/>
              <a:t> Figueroa St), </a:t>
            </a:r>
            <a:r>
              <a:rPr lang="en-US" err="1"/>
              <a:t>onde</a:t>
            </a:r>
            <a:r>
              <a:rPr lang="en-US" dirty="0"/>
              <a:t> a </a:t>
            </a:r>
            <a:r>
              <a:rPr lang="en-US" err="1"/>
              <a:t>alta</a:t>
            </a:r>
            <a:r>
              <a:rPr lang="en-US" dirty="0"/>
              <a:t> </a:t>
            </a:r>
            <a:r>
              <a:rPr lang="en-US" err="1"/>
              <a:t>concentração</a:t>
            </a:r>
            <a:r>
              <a:rPr lang="en-US" dirty="0"/>
              <a:t> de </a:t>
            </a:r>
            <a:r>
              <a:rPr lang="en-US" err="1"/>
              <a:t>concorrentes</a:t>
            </a:r>
            <a:r>
              <a:rPr lang="en-US" dirty="0"/>
              <a:t> e o </a:t>
            </a:r>
            <a:r>
              <a:rPr lang="en-US" err="1"/>
              <a:t>fluxo</a:t>
            </a:r>
            <a:r>
              <a:rPr lang="en-US" dirty="0"/>
              <a:t> </a:t>
            </a:r>
            <a:r>
              <a:rPr lang="en-US" err="1"/>
              <a:t>intenso</a:t>
            </a:r>
            <a:r>
              <a:rPr lang="en-US" dirty="0"/>
              <a:t> de </a:t>
            </a:r>
            <a:r>
              <a:rPr lang="en-US" err="1"/>
              <a:t>pedestres</a:t>
            </a:r>
            <a:r>
              <a:rPr lang="en-US" dirty="0"/>
              <a:t> </a:t>
            </a:r>
            <a:r>
              <a:rPr lang="en-US" err="1"/>
              <a:t>justificam</a:t>
            </a:r>
            <a:r>
              <a:rPr lang="en-US" dirty="0"/>
              <a:t> o </a:t>
            </a:r>
            <a:r>
              <a:rPr lang="en-US" err="1"/>
              <a:t>investimento</a:t>
            </a:r>
            <a:r>
              <a:rPr lang="en-US" dirty="0"/>
              <a:t> </a:t>
            </a:r>
            <a:r>
              <a:rPr lang="en-US" err="1"/>
              <a:t>em</a:t>
            </a:r>
            <a:r>
              <a:rPr lang="en-US" dirty="0"/>
              <a:t> </a:t>
            </a:r>
            <a:r>
              <a:rPr lang="en-US" err="1"/>
              <a:t>tecnologia</a:t>
            </a:r>
            <a:r>
              <a:rPr lang="en-US" dirty="0"/>
              <a:t> para </a:t>
            </a:r>
            <a:r>
              <a:rPr lang="en-US" err="1"/>
              <a:t>atrair</a:t>
            </a:r>
            <a:r>
              <a:rPr lang="en-US" dirty="0"/>
              <a:t> e </a:t>
            </a:r>
            <a:r>
              <a:rPr lang="en-US" err="1"/>
              <a:t>reter</a:t>
            </a:r>
            <a:r>
              <a:rPr lang="en-US" dirty="0"/>
              <a:t> o </a:t>
            </a:r>
            <a:r>
              <a:rPr lang="en-US" err="1"/>
              <a:t>público</a:t>
            </a:r>
            <a:r>
              <a:rPr lang="en-US" dirty="0"/>
              <a:t> </a:t>
            </a:r>
            <a:r>
              <a:rPr lang="en-US" err="1"/>
              <a:t>através</a:t>
            </a:r>
            <a:r>
              <a:rPr lang="en-US" dirty="0"/>
              <a:t> do </a:t>
            </a:r>
            <a:r>
              <a:rPr lang="en-US" err="1"/>
              <a:t>fator</a:t>
            </a:r>
            <a:r>
              <a:rPr lang="en-US" dirty="0"/>
              <a:t> </a:t>
            </a:r>
            <a:r>
              <a:rPr lang="en-US"/>
              <a:t>novidade.</a:t>
            </a:r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9CFD3-BA56-CD13-9A16-D568082D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2129-D705-A9CF-23DC-FDA2B38E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327" y="234051"/>
            <a:ext cx="5884027" cy="764995"/>
          </a:xfrm>
        </p:spPr>
        <p:txBody>
          <a:bodyPr/>
          <a:lstStyle/>
          <a:p>
            <a:r>
              <a:rPr lang="en-US"/>
              <a:t>Mitigando riscos</a:t>
            </a:r>
          </a:p>
        </p:txBody>
      </p:sp>
      <p:pic>
        <p:nvPicPr>
          <p:cNvPr id="47" name="Picture Placeholder 46">
            <a:extLst>
              <a:ext uri="{FF2B5EF4-FFF2-40B4-BE49-F238E27FC236}">
                <a16:creationId xmlns:a16="http://schemas.microsoft.com/office/drawing/2014/main" id="{69C70A5A-E766-0104-145F-309BF3141A2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104" r="20104"/>
          <a:stretch/>
        </p:blipFill>
        <p:spPr>
          <a:xfrm>
            <a:off x="-28230" y="-9144"/>
            <a:ext cx="5481955" cy="687628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B3D85-25E1-2B0D-517E-6A1E5268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A360-DE37-531B-8232-7488E07603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880260" y="1225516"/>
            <a:ext cx="6606331" cy="2599672"/>
          </a:xfrm>
        </p:spPr>
        <p:txBody>
          <a:bodyPr vert="horz" lIns="91440" tIns="0" rIns="91440" bIns="45720" rtlCol="0" anchor="t">
            <a:noAutofit/>
          </a:bodyPr>
          <a:lstStyle/>
          <a:p>
            <a:pPr marL="285750" indent="-285750" algn="just">
              <a:buChar char="•"/>
            </a:pPr>
            <a:r>
              <a:rPr lang="en-US" b="1"/>
              <a:t>Mitigação de Riscos</a:t>
            </a:r>
            <a:r>
              <a:rPr lang="en-US"/>
              <a:t>: O "efeito novidade" dos robôs deve ser utilizado como alavanca inicial de marketing. No entanto, para garantir a rentabilidade a longo prazo, o foco deve migrar gradualmente para a eficiência logística e qualidade do produto. A robótica não deve ser apenas um espetáculo, mas uma solução para reduzir custos operacionais e volatividade de mão de obra em áreas de alto custo em LA.</a:t>
            </a:r>
          </a:p>
          <a:p>
            <a:pPr marL="285750" indent="-285750" algn="just">
              <a:buChar char="•"/>
            </a:pP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986CAC-D241-4A55-93D8-F32C1F108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03C4B27-315E-01C9-A0BC-82F486FC3DD2}"/>
              </a:ext>
            </a:extLst>
          </p:cNvPr>
          <p:cNvSpPr txBox="1">
            <a:spLocks/>
          </p:cNvSpPr>
          <p:nvPr/>
        </p:nvSpPr>
        <p:spPr>
          <a:xfrm>
            <a:off x="5456867" y="3828885"/>
            <a:ext cx="5907176" cy="2364000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/>
              <a:t>Expansão e Rede</a:t>
            </a:r>
            <a:r>
              <a:rPr lang="en-US"/>
              <a:t>: Dado que redes de estabelecimentos são comuns em áreas movimentadas, o projeto piloto deve ser desenhado para ser escalável. Uma vez validada a eficiência operacional dos garçons robôs, o modelo poderá ser replicado em outras regiões estratégicas da cidade, aproveitando a familiaridade do público de LA com soluções "high-tech".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9C2A2-7965-07EB-1603-DA1FE6D79558}"/>
              </a:ext>
            </a:extLst>
          </p:cNvPr>
          <p:cNvSpPr txBox="1"/>
          <p:nvPr/>
        </p:nvSpPr>
        <p:spPr>
          <a:xfrm>
            <a:off x="-28575" y="6867525"/>
            <a:ext cx="5481638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563112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Placeholder 4" descr="City centre Los Angeles - Explore the Heart and Soul of LA's Central ...">
            <a:extLst>
              <a:ext uri="{FF2B5EF4-FFF2-40B4-BE49-F238E27FC236}">
                <a16:creationId xmlns:a16="http://schemas.microsoft.com/office/drawing/2014/main" id="{EE5F7DDD-7E50-109B-3CE0-9D2A9BEC949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8124" r="18124"/>
          <a:stretch/>
        </p:blipFill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6CE4FA6-57EC-204C-86A7-9067CD40984D}"/>
              </a:ext>
            </a:extLst>
          </p:cNvPr>
          <p:cNvSpPr txBox="1">
            <a:spLocks/>
          </p:cNvSpPr>
          <p:nvPr/>
        </p:nvSpPr>
        <p:spPr>
          <a:xfrm>
            <a:off x="5940961" y="3031026"/>
            <a:ext cx="5907176" cy="1315130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14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Los Angeles oferece o terreno ideal para este projeto, unindo um público ávido por inovação tecnológica a um mercado com demanda comprovada em regiões de alta densidade comercial.</a:t>
            </a:r>
            <a:endParaRPr 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0111A-8A3D-2B78-992E-52C4405946C9}"/>
              </a:ext>
            </a:extLst>
          </p:cNvPr>
          <p:cNvSpPr txBox="1"/>
          <p:nvPr/>
        </p:nvSpPr>
        <p:spPr>
          <a:xfrm>
            <a:off x="0" y="6867525"/>
            <a:ext cx="6577013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/>
              <a:t>Obrigado!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Fabrício Camacho</a:t>
            </a:r>
            <a:endParaRPr lang="en-US" dirty="0"/>
          </a:p>
          <a:p>
            <a:r>
              <a:rPr lang="en-US" dirty="0"/>
              <a:t>+55 82 99978-3442</a:t>
            </a:r>
          </a:p>
          <a:p>
            <a:r>
              <a:rPr lang="en-US"/>
              <a:t>fabricio.camacho@outlook.com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442</Words>
  <Application>Microsoft Office PowerPoint</Application>
  <PresentationFormat>Widescreen</PresentationFormat>
  <Paragraphs>137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Custom</vt:lpstr>
      <vt:lpstr>Inovação no Setor Gastronômico de L.A. :  Cafeteria com Garçons Robôs</vt:lpstr>
      <vt:lpstr>índice</vt:lpstr>
      <vt:lpstr>objetivos</vt:lpstr>
      <vt:lpstr>objetivos</vt:lpstr>
      <vt:lpstr>introdução</vt:lpstr>
      <vt:lpstr>O CONCEITO</vt:lpstr>
      <vt:lpstr>Panorama geral do mercado em los angeles</vt:lpstr>
      <vt:lpstr>Restaurantes são maioria</vt:lpstr>
      <vt:lpstr>Estabelecimentos de rede vs. independentes</vt:lpstr>
      <vt:lpstr>Dinâmica das redes</vt:lpstr>
      <vt:lpstr>Quantidade de assentos nas redes</vt:lpstr>
      <vt:lpstr>PowerPoint Presentation</vt:lpstr>
      <vt:lpstr>Unidades de rede e assentos</vt:lpstr>
      <vt:lpstr>Estabelecimentos e assentos</vt:lpstr>
      <vt:lpstr>Análise espacial / geográfica</vt:lpstr>
      <vt:lpstr>Ruas movimentadas v.s. capacidade de unidades</vt:lpstr>
      <vt:lpstr>conclusões</vt:lpstr>
      <vt:lpstr>Café bem localizado</vt:lpstr>
      <vt:lpstr>Mitigando riscos</vt:lpstr>
      <vt:lpstr>PowerPoint Presentation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498</cp:revision>
  <dcterms:created xsi:type="dcterms:W3CDTF">2026-02-06T18:48:38Z</dcterms:created>
  <dcterms:modified xsi:type="dcterms:W3CDTF">2026-02-07T02:31:40Z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